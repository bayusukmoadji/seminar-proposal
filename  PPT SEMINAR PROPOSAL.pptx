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3" r:id="rId4"/>
    <p:sldId id="268" r:id="rId5"/>
    <p:sldId id="270" r:id="rId6"/>
    <p:sldId id="271" r:id="rId7"/>
    <p:sldId id="272" r:id="rId8"/>
    <p:sldId id="258" r:id="rId9"/>
    <p:sldId id="259" r:id="rId10"/>
    <p:sldId id="260" r:id="rId11"/>
    <p:sldId id="261" r:id="rId12"/>
    <p:sldId id="263" r:id="rId13"/>
    <p:sldId id="274" r:id="rId14"/>
    <p:sldId id="275" r:id="rId15"/>
    <p:sldId id="276" r:id="rId16"/>
    <p:sldId id="277" r:id="rId17"/>
    <p:sldId id="267" r:id="rId18"/>
  </p:sldIdLst>
  <p:sldSz cx="18288000" cy="10287000"/>
  <p:notesSz cx="6858000" cy="9144000"/>
  <p:embeddedFontLst>
    <p:embeddedFont>
      <p:font typeface="Montserrat ExtraBold" panose="020F0502020204030204" pitchFamily="34" charset="0"/>
      <p:bold r:id="rId20"/>
      <p:italic r:id="rId21"/>
      <p:boldItalic r:id="rId22"/>
    </p:embeddedFont>
    <p:embeddedFont>
      <p:font typeface="Poppins" pitchFamily="2" charset="77"/>
      <p:regular r:id="rId23"/>
      <p:bold r:id="rId24"/>
      <p:italic r:id="rId25"/>
      <p:boldItalic r:id="rId26"/>
    </p:embeddedFont>
    <p:embeddedFont>
      <p:font typeface="Poppins Medium" panose="020B0604020202020204" pitchFamily="34" charset="0"/>
      <p:regular r:id="rId27"/>
      <p:bold r:id="rId28"/>
      <p:italic r:id="rId29"/>
      <p:boldItalic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zEw54v9JSMOgw4kvUg8rnobtR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EC582C"/>
    <a:srgbClr val="297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>
        <p:scale>
          <a:sx n="68" d="100"/>
          <a:sy n="68" d="100"/>
        </p:scale>
        <p:origin x="1000" y="5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B89A6DE-96F5-5C23-9DF7-32BA7A4A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022F47B-ABD7-99ED-4C93-AE8861CEC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B755DCBD-16CD-E580-F3EF-545C058F5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2060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C2B171-3DCD-DC59-49E4-BA271086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B2E7206-A8AE-4D08-19CB-7C2C28518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BCEB041E-B81E-9CFC-12A2-64602D793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866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DD0DE8-B1C4-0810-7D5B-2C75D9FE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6CB0D059-B3EE-21D9-F223-0CE2287E2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F3DF31DB-AB55-8C7B-C280-FFF9CD1FF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1651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ECB2AA6-C849-67D1-EC99-F411C5BF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69E6758C-194B-6443-FEB2-D2F2F2689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B424E6B6-0753-7981-3BE3-DD6DCAE57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6434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7F956E2-99FC-D835-2D9F-5B77FA6C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37A95A1-153E-8286-8CAE-5ADF32F74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21E576F-BEB5-209C-BE1E-E56247ED3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5319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8DDE1A54-E88A-D453-CCC5-03E00951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>
            <a:extLst>
              <a:ext uri="{FF2B5EF4-FFF2-40B4-BE49-F238E27FC236}">
                <a16:creationId xmlns:a16="http://schemas.microsoft.com/office/drawing/2014/main" id="{EECAE7C1-7C50-5001-9B4B-A6C0CECAA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>
            <a:extLst>
              <a:ext uri="{FF2B5EF4-FFF2-40B4-BE49-F238E27FC236}">
                <a16:creationId xmlns:a16="http://schemas.microsoft.com/office/drawing/2014/main" id="{9FBC826A-20C8-260A-BA34-56973FC3D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2817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80A04DD7-7D72-C7D7-4494-5B248137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>
            <a:extLst>
              <a:ext uri="{FF2B5EF4-FFF2-40B4-BE49-F238E27FC236}">
                <a16:creationId xmlns:a16="http://schemas.microsoft.com/office/drawing/2014/main" id="{DDDF2FA3-E691-8296-7F7E-9BC8F69D1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>
            <a:extLst>
              <a:ext uri="{FF2B5EF4-FFF2-40B4-BE49-F238E27FC236}">
                <a16:creationId xmlns:a16="http://schemas.microsoft.com/office/drawing/2014/main" id="{D70B8A86-4E53-3D99-A44D-EE8651115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5325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CF4D548E-D1CC-E843-6E81-DD38F63A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>
            <a:extLst>
              <a:ext uri="{FF2B5EF4-FFF2-40B4-BE49-F238E27FC236}">
                <a16:creationId xmlns:a16="http://schemas.microsoft.com/office/drawing/2014/main" id="{06F2CB80-25F4-41BB-6C1F-612C0B8D8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>
            <a:extLst>
              <a:ext uri="{FF2B5EF4-FFF2-40B4-BE49-F238E27FC236}">
                <a16:creationId xmlns:a16="http://schemas.microsoft.com/office/drawing/2014/main" id="{61D33FE9-70C9-0CD0-76AB-577EE10CD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8037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6243D3D9-DBAA-EF9E-3A9D-B3F26CA2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>
            <a:extLst>
              <a:ext uri="{FF2B5EF4-FFF2-40B4-BE49-F238E27FC236}">
                <a16:creationId xmlns:a16="http://schemas.microsoft.com/office/drawing/2014/main" id="{50D90D56-662A-8499-2BB5-A9E6E4663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>
            <a:extLst>
              <a:ext uri="{FF2B5EF4-FFF2-40B4-BE49-F238E27FC236}">
                <a16:creationId xmlns:a16="http://schemas.microsoft.com/office/drawing/2014/main" id="{F690B62E-90DD-2EAF-056F-64BB5A0DA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9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5182056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968" b="-5316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20453" y="0"/>
            <a:ext cx="4640334" cy="1564764"/>
          </a:xfrm>
          <a:custGeom>
            <a:avLst/>
            <a:gdLst/>
            <a:ahLst/>
            <a:cxnLst/>
            <a:rect l="l" t="t" r="r" b="b"/>
            <a:pathLst>
              <a:path w="4640334" h="1564764" extrusionOk="0">
                <a:moveTo>
                  <a:pt x="0" y="0"/>
                </a:moveTo>
                <a:lnTo>
                  <a:pt x="4640334" y="0"/>
                </a:lnTo>
                <a:lnTo>
                  <a:pt x="4640334" y="1564764"/>
                </a:lnTo>
                <a:lnTo>
                  <a:pt x="0" y="156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8398218" y="1314582"/>
            <a:ext cx="8861082" cy="277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20" b="1" dirty="0">
                <a:solidFill>
                  <a:srgbClr val="28295D"/>
                </a:solidFill>
                <a:latin typeface="Poppins"/>
                <a:cs typeface="Poppins"/>
                <a:sym typeface="Poppins"/>
              </a:rPr>
              <a:t>RANCANG BANGUN APLIKASI MANAJEMEN STOK DENGAN QR CODE MENGGUNAKAN METODE PROTOTYPING </a:t>
            </a:r>
          </a:p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8295D"/>
                </a:solidFill>
                <a:latin typeface="Poppins"/>
                <a:cs typeface="Poppins"/>
                <a:sym typeface="Poppins"/>
              </a:rPr>
              <a:t>(STUDI KASUS: TOKO BERAS ABUNAWAS)</a:t>
            </a:r>
            <a:endParaRPr lang="en-US" sz="1100" dirty="0"/>
          </a:p>
        </p:txBody>
      </p:sp>
      <p:grpSp>
        <p:nvGrpSpPr>
          <p:cNvPr id="90" name="Google Shape;90;p1"/>
          <p:cNvGrpSpPr/>
          <p:nvPr/>
        </p:nvGrpSpPr>
        <p:grpSpPr>
          <a:xfrm>
            <a:off x="13895826" y="4209973"/>
            <a:ext cx="3363888" cy="886295"/>
            <a:chOff x="0" y="-57150"/>
            <a:chExt cx="776700" cy="233426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776644" cy="176276"/>
            </a:xfrm>
            <a:custGeom>
              <a:avLst/>
              <a:gdLst/>
              <a:ahLst/>
              <a:cxnLst/>
              <a:rect l="l" t="t" r="r" b="b"/>
              <a:pathLst>
                <a:path w="776644" h="176276" extrusionOk="0">
                  <a:moveTo>
                    <a:pt x="68261" y="0"/>
                  </a:moveTo>
                  <a:lnTo>
                    <a:pt x="708383" y="0"/>
                  </a:lnTo>
                  <a:cubicBezTo>
                    <a:pt x="746082" y="0"/>
                    <a:pt x="776644" y="30562"/>
                    <a:pt x="776644" y="68261"/>
                  </a:cubicBezTo>
                  <a:lnTo>
                    <a:pt x="776644" y="108015"/>
                  </a:lnTo>
                  <a:cubicBezTo>
                    <a:pt x="776644" y="126119"/>
                    <a:pt x="769452" y="143482"/>
                    <a:pt x="756651" y="156283"/>
                  </a:cubicBezTo>
                  <a:cubicBezTo>
                    <a:pt x="743849" y="169085"/>
                    <a:pt x="726487" y="176276"/>
                    <a:pt x="708383" y="176276"/>
                  </a:cubicBezTo>
                  <a:lnTo>
                    <a:pt x="68261" y="176276"/>
                  </a:lnTo>
                  <a:cubicBezTo>
                    <a:pt x="50157" y="176276"/>
                    <a:pt x="32795" y="169085"/>
                    <a:pt x="19993" y="156283"/>
                  </a:cubicBezTo>
                  <a:cubicBezTo>
                    <a:pt x="7192" y="143482"/>
                    <a:pt x="0" y="126119"/>
                    <a:pt x="0" y="108015"/>
                  </a:cubicBezTo>
                  <a:lnTo>
                    <a:pt x="0" y="68261"/>
                  </a:lnTo>
                  <a:cubicBezTo>
                    <a:pt x="0" y="50157"/>
                    <a:pt x="7192" y="32795"/>
                    <a:pt x="19993" y="19993"/>
                  </a:cubicBezTo>
                  <a:cubicBezTo>
                    <a:pt x="32795" y="7192"/>
                    <a:pt x="50157" y="0"/>
                    <a:pt x="68261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57150"/>
              <a:ext cx="7767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9040678" y="9741338"/>
            <a:ext cx="821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FAKULTAS ILMU KOMPUTER UNIVERSITAS ESA UNGGUL</a:t>
            </a:r>
            <a:endParaRPr sz="2300" b="1"/>
          </a:p>
        </p:txBody>
      </p:sp>
      <p:sp>
        <p:nvSpPr>
          <p:cNvPr id="94" name="Google Shape;94;p1"/>
          <p:cNvSpPr txBox="1"/>
          <p:nvPr/>
        </p:nvSpPr>
        <p:spPr>
          <a:xfrm>
            <a:off x="14103148" y="4497349"/>
            <a:ext cx="294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Dosen </a:t>
            </a:r>
            <a:r>
              <a:rPr lang="en-US" sz="1999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Pembimbing</a:t>
            </a:r>
            <a:endParaRPr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12034157" y="5161276"/>
            <a:ext cx="5181865" cy="47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Dwi </a:t>
            </a:r>
            <a:r>
              <a:rPr lang="en-US" sz="2199" b="1" i="0" u="none" strike="noStrike" cap="none" dirty="0" err="1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Sartika</a:t>
            </a:r>
            <a:r>
              <a:rPr lang="en-US" sz="21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i="0" u="none" strike="noStrike" cap="none" dirty="0" err="1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Simatupang</a:t>
            </a:r>
            <a:r>
              <a:rPr lang="en-US" sz="21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, S.T., M.T.I.</a:t>
            </a:r>
            <a:endParaRPr lang="en-US"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13104812" y="7183618"/>
            <a:ext cx="4154488" cy="155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Bayu </a:t>
            </a:r>
            <a:r>
              <a:rPr lang="en-US" sz="2399" b="1" i="0" u="none" strike="noStrike" cap="none" dirty="0" err="1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Sukmo</a:t>
            </a: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 Adji</a:t>
            </a:r>
            <a:endParaRPr dirty="0"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20220801089</a:t>
            </a:r>
            <a:endParaRPr dirty="0"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1" i="0" u="none" strike="noStrike" cap="none" dirty="0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Teknik </a:t>
            </a:r>
            <a:r>
              <a:rPr lang="en-US" sz="2399" b="1" i="0" u="none" strike="noStrike" cap="none" dirty="0" err="1">
                <a:solidFill>
                  <a:srgbClr val="131430"/>
                </a:solidFill>
                <a:latin typeface="Poppins"/>
                <a:ea typeface="Poppins"/>
                <a:cs typeface="Poppins"/>
                <a:sym typeface="Poppins"/>
              </a:rPr>
              <a:t>Informatika</a:t>
            </a:r>
            <a:endParaRPr dirty="0"/>
          </a:p>
        </p:txBody>
      </p:sp>
      <p:grpSp>
        <p:nvGrpSpPr>
          <p:cNvPr id="97" name="Google Shape;97;p1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1753206">
            <a:off x="-946638" y="4717918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5280060" y="580059"/>
            <a:ext cx="7727880" cy="1270640"/>
            <a:chOff x="0" y="-57150"/>
            <a:chExt cx="1747717" cy="287364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6338093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848291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5583409" y="1085190"/>
            <a:ext cx="7121182" cy="52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LATAR BELAKANG MASALAH</a:t>
            </a:r>
            <a:endParaRPr dirty="0"/>
          </a:p>
        </p:txBody>
      </p:sp>
      <p:grpSp>
        <p:nvGrpSpPr>
          <p:cNvPr id="121" name="Google Shape;121;p2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Latar Belakang Masalah</a:t>
              </a:r>
              <a:endParaRPr/>
            </a:p>
          </p:txBody>
        </p:sp>
      </p:grpSp>
      <p:grpSp>
        <p:nvGrpSpPr>
          <p:cNvPr id="2" name="Google Shape;116;p2">
            <a:extLst>
              <a:ext uri="{FF2B5EF4-FFF2-40B4-BE49-F238E27FC236}">
                <a16:creationId xmlns:a16="http://schemas.microsoft.com/office/drawing/2014/main" id="{98A40222-9DDB-5DA5-D273-A68A6274C909}"/>
              </a:ext>
            </a:extLst>
          </p:cNvPr>
          <p:cNvGrpSpPr/>
          <p:nvPr/>
        </p:nvGrpSpPr>
        <p:grpSpPr>
          <a:xfrm>
            <a:off x="2315435" y="2915733"/>
            <a:ext cx="13650686" cy="4280301"/>
            <a:chOff x="326776" y="30531"/>
            <a:chExt cx="2261413" cy="169465"/>
          </a:xfrm>
        </p:grpSpPr>
        <p:sp>
          <p:nvSpPr>
            <p:cNvPr id="3" name="Google Shape;117;p2">
              <a:extLst>
                <a:ext uri="{FF2B5EF4-FFF2-40B4-BE49-F238E27FC236}">
                  <a16:creationId xmlns:a16="http://schemas.microsoft.com/office/drawing/2014/main" id="{ED780323-857D-E2A8-694E-391489001CEE}"/>
                </a:ext>
              </a:extLst>
            </p:cNvPr>
            <p:cNvSpPr/>
            <p:nvPr/>
          </p:nvSpPr>
          <p:spPr>
            <a:xfrm>
              <a:off x="326776" y="30531"/>
              <a:ext cx="2261413" cy="169465"/>
            </a:xfrm>
            <a:custGeom>
              <a:avLst/>
              <a:gdLst/>
              <a:ahLst/>
              <a:cxnLst/>
              <a:rect l="l" t="t" r="r" b="b"/>
              <a:pathLst>
                <a:path w="2883572" h="278073" extrusionOk="0">
                  <a:moveTo>
                    <a:pt x="18029" y="0"/>
                  </a:moveTo>
                  <a:lnTo>
                    <a:pt x="2865543" y="0"/>
                  </a:lnTo>
                  <a:cubicBezTo>
                    <a:pt x="2875500" y="0"/>
                    <a:pt x="2883572" y="8072"/>
                    <a:pt x="2883572" y="18029"/>
                  </a:cubicBezTo>
                  <a:lnTo>
                    <a:pt x="2883572" y="260044"/>
                  </a:lnTo>
                  <a:cubicBezTo>
                    <a:pt x="2883572" y="264826"/>
                    <a:pt x="2881672" y="269412"/>
                    <a:pt x="2878291" y="272793"/>
                  </a:cubicBezTo>
                  <a:cubicBezTo>
                    <a:pt x="2874910" y="276174"/>
                    <a:pt x="2870325" y="278073"/>
                    <a:pt x="2865543" y="278073"/>
                  </a:cubicBezTo>
                  <a:lnTo>
                    <a:pt x="18029" y="278073"/>
                  </a:lnTo>
                  <a:cubicBezTo>
                    <a:pt x="8072" y="278073"/>
                    <a:pt x="0" y="270001"/>
                    <a:pt x="0" y="260044"/>
                  </a:cubicBezTo>
                  <a:lnTo>
                    <a:pt x="0" y="18029"/>
                  </a:lnTo>
                  <a:cubicBezTo>
                    <a:pt x="0" y="8072"/>
                    <a:pt x="8072" y="0"/>
                    <a:pt x="180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8295D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8;p2">
              <a:extLst>
                <a:ext uri="{FF2B5EF4-FFF2-40B4-BE49-F238E27FC236}">
                  <a16:creationId xmlns:a16="http://schemas.microsoft.com/office/drawing/2014/main" id="{895661A1-EAFE-2606-A07B-853345B82608}"/>
                </a:ext>
              </a:extLst>
            </p:cNvPr>
            <p:cNvSpPr txBox="1"/>
            <p:nvPr/>
          </p:nvSpPr>
          <p:spPr>
            <a:xfrm>
              <a:off x="350796" y="34718"/>
              <a:ext cx="2213373" cy="151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just"/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Toko Beras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Abunawas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merupakan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salah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satu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usaha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mikro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kecil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menengah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(UMKM)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bergerak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bidang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ritel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penjualan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Dalam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kegiatan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operasional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sehari-hari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 toko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masih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dilakukan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dengan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menggunakan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pada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buku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algn="just"/>
              <a:endParaRPr lang="en-ID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just"/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Penggunaan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tersebut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menimbulkan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berbagai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kendala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operasional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di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antaranya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tingginya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potensi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kesalahan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atau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human error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kesulitan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mengetahui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jumlah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sebenarnya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tersedia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gudang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serta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tidak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adanya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penanda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khusus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membedakan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berdasarkan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batch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Kondisi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menyebabkan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proses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menjadi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kurang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efektif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berisiko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menimbulkan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permasalahan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pada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kualitas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serta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ketersediaan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  <a:endParaRPr lang="en-ID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06B6170-7F00-FA4F-E952-8E4E000D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6B91156E-9106-169E-D5B8-B2AA0740A89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60715793-5010-6859-520B-84F817A36ED4}"/>
              </a:ext>
            </a:extLst>
          </p:cNvPr>
          <p:cNvSpPr/>
          <p:nvPr/>
        </p:nvSpPr>
        <p:spPr>
          <a:xfrm rot="-1753206">
            <a:off x="-946638" y="4717918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>
            <a:extLst>
              <a:ext uri="{FF2B5EF4-FFF2-40B4-BE49-F238E27FC236}">
                <a16:creationId xmlns:a16="http://schemas.microsoft.com/office/drawing/2014/main" id="{C2A333C5-A1D6-A469-2801-E48454AAE089}"/>
              </a:ext>
            </a:extLst>
          </p:cNvPr>
          <p:cNvGrpSpPr/>
          <p:nvPr/>
        </p:nvGrpSpPr>
        <p:grpSpPr>
          <a:xfrm>
            <a:off x="5280060" y="580059"/>
            <a:ext cx="7727880" cy="1270640"/>
            <a:chOff x="0" y="-57150"/>
            <a:chExt cx="1747717" cy="287364"/>
          </a:xfrm>
        </p:grpSpPr>
        <p:sp>
          <p:nvSpPr>
            <p:cNvPr id="107" name="Google Shape;107;p2">
              <a:extLst>
                <a:ext uri="{FF2B5EF4-FFF2-40B4-BE49-F238E27FC236}">
                  <a16:creationId xmlns:a16="http://schemas.microsoft.com/office/drawing/2014/main" id="{E29A4DAE-D52B-407A-F04A-B1E43BEAE5BC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925ACEB0-DE2B-6EBE-0CB1-22098F71BDE7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407F69B4-41A7-C0AA-1960-1D7D8AA617E7}"/>
              </a:ext>
            </a:extLst>
          </p:cNvPr>
          <p:cNvSpPr/>
          <p:nvPr/>
        </p:nvSpPr>
        <p:spPr>
          <a:xfrm>
            <a:off x="16338093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A45BCB4B-4866-56CA-F8A4-22CC0CFA7829}"/>
              </a:ext>
            </a:extLst>
          </p:cNvPr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73AF713-8720-B018-C4E9-ADEE9F143DB7}"/>
              </a:ext>
            </a:extLst>
          </p:cNvPr>
          <p:cNvSpPr/>
          <p:nvPr/>
        </p:nvSpPr>
        <p:spPr>
          <a:xfrm>
            <a:off x="-848291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97592A2D-5293-6CFB-5D89-993F89DB10FD}"/>
              </a:ext>
            </a:extLst>
          </p:cNvPr>
          <p:cNvSpPr txBox="1"/>
          <p:nvPr/>
        </p:nvSpPr>
        <p:spPr>
          <a:xfrm>
            <a:off x="5583409" y="1085190"/>
            <a:ext cx="712118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IDENTIFIKASI MASALAH</a:t>
            </a:r>
            <a:endParaRPr dirty="0"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CABD5624-98E6-5756-8CF4-91C29F736ECF}"/>
              </a:ext>
            </a:extLst>
          </p:cNvPr>
          <p:cNvSpPr txBox="1"/>
          <p:nvPr/>
        </p:nvSpPr>
        <p:spPr>
          <a:xfrm>
            <a:off x="6895219" y="8136516"/>
            <a:ext cx="9664910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b="1" i="0" u="none" strike="noStrike" cap="none" dirty="0">
                <a:solidFill>
                  <a:srgbClr val="263F6B"/>
                </a:solidFill>
                <a:latin typeface="Poppins"/>
                <a:ea typeface="Poppins"/>
                <a:cs typeface="Poppins"/>
                <a:sym typeface="Poppins"/>
              </a:rPr>
              <a:t>...............</a:t>
            </a:r>
            <a:endParaRPr dirty="0"/>
          </a:p>
        </p:txBody>
      </p:sp>
      <p:grpSp>
        <p:nvGrpSpPr>
          <p:cNvPr id="121" name="Google Shape;121;p2">
            <a:extLst>
              <a:ext uri="{FF2B5EF4-FFF2-40B4-BE49-F238E27FC236}">
                <a16:creationId xmlns:a16="http://schemas.microsoft.com/office/drawing/2014/main" id="{3C856BE6-4672-1133-4255-F14FFF4213B8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>
              <a:extLst>
                <a:ext uri="{FF2B5EF4-FFF2-40B4-BE49-F238E27FC236}">
                  <a16:creationId xmlns:a16="http://schemas.microsoft.com/office/drawing/2014/main" id="{AA848609-0220-F188-3BA5-8E306311AA2E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>
              <a:extLst>
                <a:ext uri="{FF2B5EF4-FFF2-40B4-BE49-F238E27FC236}">
                  <a16:creationId xmlns:a16="http://schemas.microsoft.com/office/drawing/2014/main" id="{A2F8D5F9-AACB-EA1F-2E27-7BBE8C13BD26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Identifikasi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Masalah</a:t>
              </a:r>
              <a:endParaRPr dirty="0"/>
            </a:p>
          </p:txBody>
        </p:sp>
      </p:grpSp>
      <p:grpSp>
        <p:nvGrpSpPr>
          <p:cNvPr id="2" name="Google Shape;116;p2">
            <a:extLst>
              <a:ext uri="{FF2B5EF4-FFF2-40B4-BE49-F238E27FC236}">
                <a16:creationId xmlns:a16="http://schemas.microsoft.com/office/drawing/2014/main" id="{942DCEFD-140E-7F46-3DF6-E04210F3F14B}"/>
              </a:ext>
            </a:extLst>
          </p:cNvPr>
          <p:cNvGrpSpPr/>
          <p:nvPr/>
        </p:nvGrpSpPr>
        <p:grpSpPr>
          <a:xfrm>
            <a:off x="2262049" y="2234810"/>
            <a:ext cx="13650686" cy="7023490"/>
            <a:chOff x="317932" y="3572"/>
            <a:chExt cx="2261413" cy="278073"/>
          </a:xfrm>
        </p:grpSpPr>
        <p:sp>
          <p:nvSpPr>
            <p:cNvPr id="3" name="Google Shape;117;p2">
              <a:extLst>
                <a:ext uri="{FF2B5EF4-FFF2-40B4-BE49-F238E27FC236}">
                  <a16:creationId xmlns:a16="http://schemas.microsoft.com/office/drawing/2014/main" id="{A8EF2519-6E0D-3692-ED9E-5B85009ABBAE}"/>
                </a:ext>
              </a:extLst>
            </p:cNvPr>
            <p:cNvSpPr/>
            <p:nvPr/>
          </p:nvSpPr>
          <p:spPr>
            <a:xfrm>
              <a:off x="317932" y="3572"/>
              <a:ext cx="2261413" cy="278073"/>
            </a:xfrm>
            <a:custGeom>
              <a:avLst/>
              <a:gdLst/>
              <a:ahLst/>
              <a:cxnLst/>
              <a:rect l="l" t="t" r="r" b="b"/>
              <a:pathLst>
                <a:path w="2883572" h="278073" extrusionOk="0">
                  <a:moveTo>
                    <a:pt x="18029" y="0"/>
                  </a:moveTo>
                  <a:lnTo>
                    <a:pt x="2865543" y="0"/>
                  </a:lnTo>
                  <a:cubicBezTo>
                    <a:pt x="2875500" y="0"/>
                    <a:pt x="2883572" y="8072"/>
                    <a:pt x="2883572" y="18029"/>
                  </a:cubicBezTo>
                  <a:lnTo>
                    <a:pt x="2883572" y="260044"/>
                  </a:lnTo>
                  <a:cubicBezTo>
                    <a:pt x="2883572" y="264826"/>
                    <a:pt x="2881672" y="269412"/>
                    <a:pt x="2878291" y="272793"/>
                  </a:cubicBezTo>
                  <a:cubicBezTo>
                    <a:pt x="2874910" y="276174"/>
                    <a:pt x="2870325" y="278073"/>
                    <a:pt x="2865543" y="278073"/>
                  </a:cubicBezTo>
                  <a:lnTo>
                    <a:pt x="18029" y="278073"/>
                  </a:lnTo>
                  <a:cubicBezTo>
                    <a:pt x="8072" y="278073"/>
                    <a:pt x="0" y="270001"/>
                    <a:pt x="0" y="260044"/>
                  </a:cubicBezTo>
                  <a:lnTo>
                    <a:pt x="0" y="18029"/>
                  </a:lnTo>
                  <a:cubicBezTo>
                    <a:pt x="0" y="8072"/>
                    <a:pt x="8072" y="0"/>
                    <a:pt x="180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8295D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8;p2">
              <a:extLst>
                <a:ext uri="{FF2B5EF4-FFF2-40B4-BE49-F238E27FC236}">
                  <a16:creationId xmlns:a16="http://schemas.microsoft.com/office/drawing/2014/main" id="{407E9EE2-4C34-96C3-8651-EB4A23B86828}"/>
                </a:ext>
              </a:extLst>
            </p:cNvPr>
            <p:cNvSpPr txBox="1"/>
            <p:nvPr/>
          </p:nvSpPr>
          <p:spPr>
            <a:xfrm>
              <a:off x="341627" y="5089"/>
              <a:ext cx="2213373" cy="5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r>
                <a:rPr lang="en-ID" sz="2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Toko Beras </a:t>
              </a:r>
              <a:r>
                <a:rPr lang="en-ID" sz="2400" b="1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Abunawas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merupakan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usaha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mikro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kecil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menengah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(UMKM) yang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bergerak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bidang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ritel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Saat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ini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proses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masih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dilakukan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menggunakan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buku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sehingga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menimbulkan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beberapa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permasalahan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operasional</a:t>
              </a:r>
              <a:r>
                <a:rPr lang="en-ID" sz="24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toko.</a:t>
              </a:r>
            </a:p>
          </p:txBody>
        </p:sp>
        <p:sp>
          <p:nvSpPr>
            <p:cNvPr id="5" name="Google Shape;118;p2">
              <a:extLst>
                <a:ext uri="{FF2B5EF4-FFF2-40B4-BE49-F238E27FC236}">
                  <a16:creationId xmlns:a16="http://schemas.microsoft.com/office/drawing/2014/main" id="{EFF5F2FB-6AA4-21F9-4FF6-0F5E617A9696}"/>
                </a:ext>
              </a:extLst>
            </p:cNvPr>
            <p:cNvSpPr txBox="1"/>
            <p:nvPr/>
          </p:nvSpPr>
          <p:spPr>
            <a:xfrm>
              <a:off x="341627" y="56630"/>
              <a:ext cx="1665512" cy="217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457200" indent="-457200">
                <a:buFont typeface="+mj-lt"/>
                <a:buAutoNum type="arabicPeriod"/>
              </a:pP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Human Error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rentan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terhadap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kesalahan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tulis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hitung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sehingga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data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sering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tidak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sesuai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dengan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kondisi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fisik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gudang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Kesulitan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Pelacakan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Stok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Tidak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adanya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identitas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atau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penandaan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batch pada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menyebabkan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karyawan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sulit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membedakan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lama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baru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Penurunan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Kualitas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Stok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Tidak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adanya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penerapan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metode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FIFO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menyebabkan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baru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sering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dijual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lebih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dahulu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sementara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lama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tertinggal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kualitasnya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menurun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Keterbatasan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Monitoring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Pemilik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toko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tidak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dapat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memantau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real-time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harus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melakukan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pengecekan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atau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menghubungi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gudang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27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EE66D1F-EA08-2057-6965-7DB7B647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46FC7BA4-5B02-2BB5-B71C-BC8D70AF3347}"/>
              </a:ext>
            </a:extLst>
          </p:cNvPr>
          <p:cNvSpPr/>
          <p:nvPr/>
        </p:nvSpPr>
        <p:spPr>
          <a:xfrm>
            <a:off x="0" y="-42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E3FB5152-B928-DBA0-575F-700515D3B868}"/>
              </a:ext>
            </a:extLst>
          </p:cNvPr>
          <p:cNvSpPr/>
          <p:nvPr/>
        </p:nvSpPr>
        <p:spPr>
          <a:xfrm rot="-1753206">
            <a:off x="-946638" y="4717918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>
            <a:extLst>
              <a:ext uri="{FF2B5EF4-FFF2-40B4-BE49-F238E27FC236}">
                <a16:creationId xmlns:a16="http://schemas.microsoft.com/office/drawing/2014/main" id="{C5863E80-9456-AF51-1618-AF7CCB4F9C0A}"/>
              </a:ext>
            </a:extLst>
          </p:cNvPr>
          <p:cNvGrpSpPr/>
          <p:nvPr/>
        </p:nvGrpSpPr>
        <p:grpSpPr>
          <a:xfrm>
            <a:off x="5280060" y="775999"/>
            <a:ext cx="7727880" cy="1270640"/>
            <a:chOff x="0" y="-57150"/>
            <a:chExt cx="1747717" cy="287364"/>
          </a:xfrm>
        </p:grpSpPr>
        <p:sp>
          <p:nvSpPr>
            <p:cNvPr id="107" name="Google Shape;107;p2">
              <a:extLst>
                <a:ext uri="{FF2B5EF4-FFF2-40B4-BE49-F238E27FC236}">
                  <a16:creationId xmlns:a16="http://schemas.microsoft.com/office/drawing/2014/main" id="{036CA431-B4E5-0146-DABA-53CDEF9D1CEA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18DBCF91-18D4-4611-50D6-4FE9E6FBDEB8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68FCE180-320B-F618-AA76-932BF00FFF91}"/>
              </a:ext>
            </a:extLst>
          </p:cNvPr>
          <p:cNvSpPr/>
          <p:nvPr/>
        </p:nvSpPr>
        <p:spPr>
          <a:xfrm>
            <a:off x="17383125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AFB5304F-BE0C-903E-A3C1-8CFDABBD8A16}"/>
              </a:ext>
            </a:extLst>
          </p:cNvPr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3DEFC8E-DFEB-CE44-FB38-4CF4688DA51D}"/>
              </a:ext>
            </a:extLst>
          </p:cNvPr>
          <p:cNvSpPr/>
          <p:nvPr/>
        </p:nvSpPr>
        <p:spPr>
          <a:xfrm>
            <a:off x="-1730039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7A12635A-171F-F755-02A6-47AA2B56EA18}"/>
              </a:ext>
            </a:extLst>
          </p:cNvPr>
          <p:cNvSpPr txBox="1"/>
          <p:nvPr/>
        </p:nvSpPr>
        <p:spPr>
          <a:xfrm>
            <a:off x="5583409" y="1281130"/>
            <a:ext cx="712118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dirty="0">
                <a:solidFill>
                  <a:srgbClr val="FFFFFF"/>
                </a:solidFill>
                <a:latin typeface="Montserrat ExtraBold"/>
                <a:cs typeface="Montserrat ExtraBold"/>
                <a:sym typeface="Montserrat ExtraBold"/>
              </a:rPr>
              <a:t>RUMUSAN MASALAH</a:t>
            </a:r>
            <a:endParaRPr dirty="0"/>
          </a:p>
        </p:txBody>
      </p:sp>
      <p:grpSp>
        <p:nvGrpSpPr>
          <p:cNvPr id="121" name="Google Shape;121;p2">
            <a:extLst>
              <a:ext uri="{FF2B5EF4-FFF2-40B4-BE49-F238E27FC236}">
                <a16:creationId xmlns:a16="http://schemas.microsoft.com/office/drawing/2014/main" id="{30ACED28-4C88-BFFE-0741-E17804038B33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>
              <a:extLst>
                <a:ext uri="{FF2B5EF4-FFF2-40B4-BE49-F238E27FC236}">
                  <a16:creationId xmlns:a16="http://schemas.microsoft.com/office/drawing/2014/main" id="{5F85FF2D-6EF6-D255-1696-4756EF8E7A9D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>
              <a:extLst>
                <a:ext uri="{FF2B5EF4-FFF2-40B4-BE49-F238E27FC236}">
                  <a16:creationId xmlns:a16="http://schemas.microsoft.com/office/drawing/2014/main" id="{6D7BD195-17D0-315A-7097-206BAD6C3BD6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Rumusan</a:t>
              </a: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Masalah</a:t>
              </a:r>
              <a:endParaRPr dirty="0"/>
            </a:p>
          </p:txBody>
        </p:sp>
      </p:grpSp>
      <p:grpSp>
        <p:nvGrpSpPr>
          <p:cNvPr id="2" name="Google Shape;116;p2">
            <a:extLst>
              <a:ext uri="{FF2B5EF4-FFF2-40B4-BE49-F238E27FC236}">
                <a16:creationId xmlns:a16="http://schemas.microsoft.com/office/drawing/2014/main" id="{DF9C0AFA-A1F9-95C6-0EE1-6F8ADD02F206}"/>
              </a:ext>
            </a:extLst>
          </p:cNvPr>
          <p:cNvGrpSpPr/>
          <p:nvPr/>
        </p:nvGrpSpPr>
        <p:grpSpPr>
          <a:xfrm>
            <a:off x="2171700" y="2273958"/>
            <a:ext cx="13846629" cy="6037285"/>
            <a:chOff x="0" y="0"/>
            <a:chExt cx="2883572" cy="278073"/>
          </a:xfrm>
        </p:grpSpPr>
        <p:sp>
          <p:nvSpPr>
            <p:cNvPr id="3" name="Google Shape;117;p2">
              <a:extLst>
                <a:ext uri="{FF2B5EF4-FFF2-40B4-BE49-F238E27FC236}">
                  <a16:creationId xmlns:a16="http://schemas.microsoft.com/office/drawing/2014/main" id="{5C781E1A-40B1-1478-3406-A0BB76DF6C5D}"/>
                </a:ext>
              </a:extLst>
            </p:cNvPr>
            <p:cNvSpPr/>
            <p:nvPr/>
          </p:nvSpPr>
          <p:spPr>
            <a:xfrm>
              <a:off x="0" y="0"/>
              <a:ext cx="2883572" cy="278073"/>
            </a:xfrm>
            <a:custGeom>
              <a:avLst/>
              <a:gdLst/>
              <a:ahLst/>
              <a:cxnLst/>
              <a:rect l="l" t="t" r="r" b="b"/>
              <a:pathLst>
                <a:path w="2883572" h="278073" extrusionOk="0">
                  <a:moveTo>
                    <a:pt x="18029" y="0"/>
                  </a:moveTo>
                  <a:lnTo>
                    <a:pt x="2865543" y="0"/>
                  </a:lnTo>
                  <a:cubicBezTo>
                    <a:pt x="2875500" y="0"/>
                    <a:pt x="2883572" y="8072"/>
                    <a:pt x="2883572" y="18029"/>
                  </a:cubicBezTo>
                  <a:lnTo>
                    <a:pt x="2883572" y="260044"/>
                  </a:lnTo>
                  <a:cubicBezTo>
                    <a:pt x="2883572" y="264826"/>
                    <a:pt x="2881672" y="269412"/>
                    <a:pt x="2878291" y="272793"/>
                  </a:cubicBezTo>
                  <a:cubicBezTo>
                    <a:pt x="2874910" y="276174"/>
                    <a:pt x="2870325" y="278073"/>
                    <a:pt x="2865543" y="278073"/>
                  </a:cubicBezTo>
                  <a:lnTo>
                    <a:pt x="18029" y="278073"/>
                  </a:lnTo>
                  <a:cubicBezTo>
                    <a:pt x="8072" y="278073"/>
                    <a:pt x="0" y="270001"/>
                    <a:pt x="0" y="260044"/>
                  </a:cubicBezTo>
                  <a:lnTo>
                    <a:pt x="0" y="18029"/>
                  </a:lnTo>
                  <a:cubicBezTo>
                    <a:pt x="0" y="8072"/>
                    <a:pt x="8072" y="0"/>
                    <a:pt x="180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8295D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8;p2">
              <a:extLst>
                <a:ext uri="{FF2B5EF4-FFF2-40B4-BE49-F238E27FC236}">
                  <a16:creationId xmlns:a16="http://schemas.microsoft.com/office/drawing/2014/main" id="{E314F3E3-AE8E-77BE-7302-11510910429A}"/>
                </a:ext>
              </a:extLst>
            </p:cNvPr>
            <p:cNvSpPr txBox="1"/>
            <p:nvPr/>
          </p:nvSpPr>
          <p:spPr>
            <a:xfrm>
              <a:off x="76581" y="612"/>
              <a:ext cx="2747193" cy="50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just"/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Berdasarkan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latar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belakang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identiifikasi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masalah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pada Toko Beras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Abunawas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maka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rumusan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masalah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penelitian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adalah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sebagai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berikut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</a:t>
              </a:r>
              <a:endParaRPr lang="en-ID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" name="Google Shape;118;p2">
              <a:extLst>
                <a:ext uri="{FF2B5EF4-FFF2-40B4-BE49-F238E27FC236}">
                  <a16:creationId xmlns:a16="http://schemas.microsoft.com/office/drawing/2014/main" id="{7DC3B3E3-46AF-D6DB-141A-34B14964671B}"/>
                </a:ext>
              </a:extLst>
            </p:cNvPr>
            <p:cNvSpPr txBox="1"/>
            <p:nvPr/>
          </p:nvSpPr>
          <p:spPr>
            <a:xfrm>
              <a:off x="76581" y="62493"/>
              <a:ext cx="2402339" cy="2088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Bagaimana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merancang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membangun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aplikasi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manajemen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berbasis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mobile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dilengkapi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fitur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QR Code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dikembangkan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menggunakan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metode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Prototyping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mendukung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penerapan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First-In, First-Out (FIFO)?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Bagaimana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mengimplementasikan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metode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First-In, First-Out (FIFO)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aplikasi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manajemen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meminimalkan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risiko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penurunan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kualitas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akibat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penyimpanan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terlalu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lama?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Bagaimana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teknologi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QR Code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diimplementasikan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aplikasi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mengidentifikasi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melacak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spesifik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berdasarkan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batch?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Bagaimana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mengimplementasikan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basis data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berbasis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cloud 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agar data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dapat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tersinkronisasi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dimonitor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real-time oleh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pemilik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toko?</a:t>
              </a:r>
            </a:p>
            <a:p>
              <a:pPr marL="457200" indent="-457200" algn="just">
                <a:buFont typeface="+mj-lt"/>
                <a:buAutoNum type="arabicPeriod"/>
              </a:pPr>
              <a:endParaRPr lang="en-ID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789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15F400-96EA-D414-1CEE-B2C6FBE8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5949B7B7-4690-C2C0-7D0C-081788F5A8E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C049D16A-07DC-0D36-A0D2-6DE574E6C9A3}"/>
              </a:ext>
            </a:extLst>
          </p:cNvPr>
          <p:cNvSpPr/>
          <p:nvPr/>
        </p:nvSpPr>
        <p:spPr>
          <a:xfrm rot="-1753206">
            <a:off x="-946638" y="4717918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>
            <a:extLst>
              <a:ext uri="{FF2B5EF4-FFF2-40B4-BE49-F238E27FC236}">
                <a16:creationId xmlns:a16="http://schemas.microsoft.com/office/drawing/2014/main" id="{743BD17B-054C-C8F3-9091-D9DBC3E92551}"/>
              </a:ext>
            </a:extLst>
          </p:cNvPr>
          <p:cNvGrpSpPr/>
          <p:nvPr/>
        </p:nvGrpSpPr>
        <p:grpSpPr>
          <a:xfrm>
            <a:off x="5280060" y="465754"/>
            <a:ext cx="7727880" cy="1270640"/>
            <a:chOff x="0" y="-57150"/>
            <a:chExt cx="1747717" cy="287364"/>
          </a:xfrm>
        </p:grpSpPr>
        <p:sp>
          <p:nvSpPr>
            <p:cNvPr id="107" name="Google Shape;107;p2">
              <a:extLst>
                <a:ext uri="{FF2B5EF4-FFF2-40B4-BE49-F238E27FC236}">
                  <a16:creationId xmlns:a16="http://schemas.microsoft.com/office/drawing/2014/main" id="{359A3319-41F2-3CE8-65C7-DE9EE803D560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8F60F8A5-43F9-6E5F-FE4F-72899A30A5D5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34579D33-F430-8380-3C39-D7667D393C4E}"/>
              </a:ext>
            </a:extLst>
          </p:cNvPr>
          <p:cNvSpPr/>
          <p:nvPr/>
        </p:nvSpPr>
        <p:spPr>
          <a:xfrm>
            <a:off x="16223796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023F8D37-BA6E-AF49-467E-95A3D6358CDF}"/>
              </a:ext>
            </a:extLst>
          </p:cNvPr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3A0A966-C920-63EE-0723-033A14CA505B}"/>
              </a:ext>
            </a:extLst>
          </p:cNvPr>
          <p:cNvSpPr/>
          <p:nvPr/>
        </p:nvSpPr>
        <p:spPr>
          <a:xfrm>
            <a:off x="-456410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E5E9E7A1-59A2-9CC5-A5EB-5782A2D28E52}"/>
              </a:ext>
            </a:extLst>
          </p:cNvPr>
          <p:cNvSpPr txBox="1"/>
          <p:nvPr/>
        </p:nvSpPr>
        <p:spPr>
          <a:xfrm>
            <a:off x="5583409" y="970885"/>
            <a:ext cx="712118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dirty="0">
                <a:solidFill>
                  <a:srgbClr val="FFFFFF"/>
                </a:solidFill>
                <a:latin typeface="Montserrat ExtraBold"/>
                <a:cs typeface="Montserrat ExtraBold"/>
                <a:sym typeface="Montserrat ExtraBold"/>
              </a:rPr>
              <a:t>TUJUAN PENELITIAN</a:t>
            </a:r>
            <a:endParaRPr dirty="0"/>
          </a:p>
        </p:txBody>
      </p:sp>
      <p:grpSp>
        <p:nvGrpSpPr>
          <p:cNvPr id="121" name="Google Shape;121;p2">
            <a:extLst>
              <a:ext uri="{FF2B5EF4-FFF2-40B4-BE49-F238E27FC236}">
                <a16:creationId xmlns:a16="http://schemas.microsoft.com/office/drawing/2014/main" id="{18E6397E-629D-F0CA-9698-3B897E50A788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>
              <a:extLst>
                <a:ext uri="{FF2B5EF4-FFF2-40B4-BE49-F238E27FC236}">
                  <a16:creationId xmlns:a16="http://schemas.microsoft.com/office/drawing/2014/main" id="{2AA3A31C-A160-2517-29BE-43C5D91D1872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>
              <a:extLst>
                <a:ext uri="{FF2B5EF4-FFF2-40B4-BE49-F238E27FC236}">
                  <a16:creationId xmlns:a16="http://schemas.microsoft.com/office/drawing/2014/main" id="{3A33B171-C126-DE27-83CD-71CB6766077D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Tujuan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Penelitian</a:t>
              </a:r>
              <a:endParaRPr dirty="0"/>
            </a:p>
          </p:txBody>
        </p:sp>
      </p:grpSp>
      <p:grpSp>
        <p:nvGrpSpPr>
          <p:cNvPr id="2" name="Google Shape;116;p2">
            <a:extLst>
              <a:ext uri="{FF2B5EF4-FFF2-40B4-BE49-F238E27FC236}">
                <a16:creationId xmlns:a16="http://schemas.microsoft.com/office/drawing/2014/main" id="{0449CF85-77D3-D12B-276F-6C5576A73244}"/>
              </a:ext>
            </a:extLst>
          </p:cNvPr>
          <p:cNvGrpSpPr/>
          <p:nvPr/>
        </p:nvGrpSpPr>
        <p:grpSpPr>
          <a:xfrm>
            <a:off x="2620736" y="1978572"/>
            <a:ext cx="13046527" cy="7142449"/>
            <a:chOff x="0" y="4771"/>
            <a:chExt cx="2317881" cy="268249"/>
          </a:xfrm>
        </p:grpSpPr>
        <p:sp>
          <p:nvSpPr>
            <p:cNvPr id="3" name="Google Shape;117;p2">
              <a:extLst>
                <a:ext uri="{FF2B5EF4-FFF2-40B4-BE49-F238E27FC236}">
                  <a16:creationId xmlns:a16="http://schemas.microsoft.com/office/drawing/2014/main" id="{E9C83E6B-DDA7-4685-2C25-7F52DD5DD785}"/>
                </a:ext>
              </a:extLst>
            </p:cNvPr>
            <p:cNvSpPr/>
            <p:nvPr/>
          </p:nvSpPr>
          <p:spPr>
            <a:xfrm>
              <a:off x="0" y="4771"/>
              <a:ext cx="2317881" cy="268249"/>
            </a:xfrm>
            <a:custGeom>
              <a:avLst/>
              <a:gdLst/>
              <a:ahLst/>
              <a:cxnLst/>
              <a:rect l="l" t="t" r="r" b="b"/>
              <a:pathLst>
                <a:path w="2883572" h="278073" extrusionOk="0">
                  <a:moveTo>
                    <a:pt x="18029" y="0"/>
                  </a:moveTo>
                  <a:lnTo>
                    <a:pt x="2865543" y="0"/>
                  </a:lnTo>
                  <a:cubicBezTo>
                    <a:pt x="2875500" y="0"/>
                    <a:pt x="2883572" y="8072"/>
                    <a:pt x="2883572" y="18029"/>
                  </a:cubicBezTo>
                  <a:lnTo>
                    <a:pt x="2883572" y="260044"/>
                  </a:lnTo>
                  <a:cubicBezTo>
                    <a:pt x="2883572" y="264826"/>
                    <a:pt x="2881672" y="269412"/>
                    <a:pt x="2878291" y="272793"/>
                  </a:cubicBezTo>
                  <a:cubicBezTo>
                    <a:pt x="2874910" y="276174"/>
                    <a:pt x="2870325" y="278073"/>
                    <a:pt x="2865543" y="278073"/>
                  </a:cubicBezTo>
                  <a:lnTo>
                    <a:pt x="18029" y="278073"/>
                  </a:lnTo>
                  <a:cubicBezTo>
                    <a:pt x="8072" y="278073"/>
                    <a:pt x="0" y="270001"/>
                    <a:pt x="0" y="260044"/>
                  </a:cubicBezTo>
                  <a:lnTo>
                    <a:pt x="0" y="18029"/>
                  </a:lnTo>
                  <a:cubicBezTo>
                    <a:pt x="0" y="8072"/>
                    <a:pt x="8072" y="0"/>
                    <a:pt x="180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8295D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;p2">
              <a:extLst>
                <a:ext uri="{FF2B5EF4-FFF2-40B4-BE49-F238E27FC236}">
                  <a16:creationId xmlns:a16="http://schemas.microsoft.com/office/drawing/2014/main" id="{AB5E6E72-C247-6B58-9322-C909C664C70A}"/>
                </a:ext>
              </a:extLst>
            </p:cNvPr>
            <p:cNvSpPr txBox="1"/>
            <p:nvPr/>
          </p:nvSpPr>
          <p:spPr>
            <a:xfrm>
              <a:off x="51656" y="12189"/>
              <a:ext cx="2160340" cy="251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just">
                <a:buNone/>
              </a:pP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Berdasarkan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dari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rumusan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penelitian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memiliki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beberapa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tujuan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utama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sebagai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berikut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</a:t>
              </a:r>
            </a:p>
            <a:p>
              <a:pPr>
                <a:buNone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Digitalisasi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Stok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Mengubah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menjadi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digital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berbasis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mobile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terintegrasi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dengan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database Firebase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mengurangi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kesalahan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menjaga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keamanan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data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Identifikasi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Stok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Berbasis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Batch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Menggunakan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QR Code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Menerapkan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QR Code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sebagai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identitas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batch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agar proses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pelacakan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berdasarkan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waktu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dapat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dilakukan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lebih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jelas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terstruktur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Penerapan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Metode First-In, First-Out (FIFO)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Menerapkan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metode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FIFO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memprioritaskan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pengeluaran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lama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terlebih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dahulu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sehingga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dapat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meminimalkan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risiko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penurunan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kualitas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akibat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penyimpanan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terlalu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lama.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Monitoring dan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Notifikasi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Stok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Menyediakan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fitur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monitoring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real-time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serta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notifikasi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menipis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membantu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pemilik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toko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pengambilan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keputusan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persediaan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681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5BF4B06-BD90-63E3-5E52-4CB456F8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2B70BFAD-99C7-5237-95AD-2195AFD711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A19FE0E7-CBCE-CEB6-DD06-E5847CFDE394}"/>
              </a:ext>
            </a:extLst>
          </p:cNvPr>
          <p:cNvSpPr/>
          <p:nvPr/>
        </p:nvSpPr>
        <p:spPr>
          <a:xfrm rot="-1753206">
            <a:off x="-946638" y="4717918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>
            <a:extLst>
              <a:ext uri="{FF2B5EF4-FFF2-40B4-BE49-F238E27FC236}">
                <a16:creationId xmlns:a16="http://schemas.microsoft.com/office/drawing/2014/main" id="{0BD4DF31-C20B-F39E-14BF-C77D6B5D28B7}"/>
              </a:ext>
            </a:extLst>
          </p:cNvPr>
          <p:cNvGrpSpPr/>
          <p:nvPr/>
        </p:nvGrpSpPr>
        <p:grpSpPr>
          <a:xfrm>
            <a:off x="5280060" y="465754"/>
            <a:ext cx="7727880" cy="1270640"/>
            <a:chOff x="0" y="-57150"/>
            <a:chExt cx="1747717" cy="287364"/>
          </a:xfrm>
        </p:grpSpPr>
        <p:sp>
          <p:nvSpPr>
            <p:cNvPr id="107" name="Google Shape;107;p2">
              <a:extLst>
                <a:ext uri="{FF2B5EF4-FFF2-40B4-BE49-F238E27FC236}">
                  <a16:creationId xmlns:a16="http://schemas.microsoft.com/office/drawing/2014/main" id="{623ABB45-B73C-6B95-9E4D-8690F284174F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E4188AFC-8998-E220-A189-8A2B8B661D74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4F762751-3D5F-3514-B8C5-ECB053D30129}"/>
              </a:ext>
            </a:extLst>
          </p:cNvPr>
          <p:cNvSpPr/>
          <p:nvPr/>
        </p:nvSpPr>
        <p:spPr>
          <a:xfrm>
            <a:off x="16223796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FF2306D9-AF4D-EEFA-3858-138C706442EE}"/>
              </a:ext>
            </a:extLst>
          </p:cNvPr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AD1E573-9B51-F0D3-7FE3-2D8B300D0C88}"/>
              </a:ext>
            </a:extLst>
          </p:cNvPr>
          <p:cNvSpPr/>
          <p:nvPr/>
        </p:nvSpPr>
        <p:spPr>
          <a:xfrm>
            <a:off x="-456410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C630B1B3-53B4-8585-B654-113B73DB43C1}"/>
              </a:ext>
            </a:extLst>
          </p:cNvPr>
          <p:cNvSpPr txBox="1"/>
          <p:nvPr/>
        </p:nvSpPr>
        <p:spPr>
          <a:xfrm>
            <a:off x="5583409" y="970885"/>
            <a:ext cx="712118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dirty="0">
                <a:solidFill>
                  <a:srgbClr val="FFFFFF"/>
                </a:solidFill>
                <a:latin typeface="Montserrat ExtraBold"/>
                <a:cs typeface="Montserrat ExtraBold"/>
                <a:sym typeface="Montserrat ExtraBold"/>
              </a:rPr>
              <a:t>MANFAAT PENELITIAN</a:t>
            </a:r>
            <a:endParaRPr dirty="0"/>
          </a:p>
        </p:txBody>
      </p:sp>
      <p:grpSp>
        <p:nvGrpSpPr>
          <p:cNvPr id="121" name="Google Shape;121;p2">
            <a:extLst>
              <a:ext uri="{FF2B5EF4-FFF2-40B4-BE49-F238E27FC236}">
                <a16:creationId xmlns:a16="http://schemas.microsoft.com/office/drawing/2014/main" id="{BA49D921-04C0-4808-5290-3EE5BFC607AB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>
              <a:extLst>
                <a:ext uri="{FF2B5EF4-FFF2-40B4-BE49-F238E27FC236}">
                  <a16:creationId xmlns:a16="http://schemas.microsoft.com/office/drawing/2014/main" id="{8905401A-4D26-EE76-423E-02D3ED96EFFC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>
              <a:extLst>
                <a:ext uri="{FF2B5EF4-FFF2-40B4-BE49-F238E27FC236}">
                  <a16:creationId xmlns:a16="http://schemas.microsoft.com/office/drawing/2014/main" id="{CA5797B9-2059-1B3C-4038-C9C4D2B68639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Manfaat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Penelitian</a:t>
              </a:r>
              <a:endParaRPr dirty="0"/>
            </a:p>
          </p:txBody>
        </p:sp>
      </p:grpSp>
      <p:grpSp>
        <p:nvGrpSpPr>
          <p:cNvPr id="2" name="Google Shape;116;p2">
            <a:extLst>
              <a:ext uri="{FF2B5EF4-FFF2-40B4-BE49-F238E27FC236}">
                <a16:creationId xmlns:a16="http://schemas.microsoft.com/office/drawing/2014/main" id="{6E343820-1C3E-C85D-0BE6-5B6E7E7DA221}"/>
              </a:ext>
            </a:extLst>
          </p:cNvPr>
          <p:cNvGrpSpPr/>
          <p:nvPr/>
        </p:nvGrpSpPr>
        <p:grpSpPr>
          <a:xfrm>
            <a:off x="4288292" y="2178977"/>
            <a:ext cx="9711416" cy="6700002"/>
            <a:chOff x="0" y="12189"/>
            <a:chExt cx="1725356" cy="251632"/>
          </a:xfrm>
        </p:grpSpPr>
        <p:sp>
          <p:nvSpPr>
            <p:cNvPr id="3" name="Google Shape;117;p2">
              <a:extLst>
                <a:ext uri="{FF2B5EF4-FFF2-40B4-BE49-F238E27FC236}">
                  <a16:creationId xmlns:a16="http://schemas.microsoft.com/office/drawing/2014/main" id="{DB5FA0F0-B2CD-C1C8-0E79-538075604D81}"/>
                </a:ext>
              </a:extLst>
            </p:cNvPr>
            <p:cNvSpPr/>
            <p:nvPr/>
          </p:nvSpPr>
          <p:spPr>
            <a:xfrm>
              <a:off x="0" y="13168"/>
              <a:ext cx="1725356" cy="250653"/>
            </a:xfrm>
            <a:custGeom>
              <a:avLst/>
              <a:gdLst/>
              <a:ahLst/>
              <a:cxnLst/>
              <a:rect l="l" t="t" r="r" b="b"/>
              <a:pathLst>
                <a:path w="2883572" h="278073" extrusionOk="0">
                  <a:moveTo>
                    <a:pt x="18029" y="0"/>
                  </a:moveTo>
                  <a:lnTo>
                    <a:pt x="2865543" y="0"/>
                  </a:lnTo>
                  <a:cubicBezTo>
                    <a:pt x="2875500" y="0"/>
                    <a:pt x="2883572" y="8072"/>
                    <a:pt x="2883572" y="18029"/>
                  </a:cubicBezTo>
                  <a:lnTo>
                    <a:pt x="2883572" y="260044"/>
                  </a:lnTo>
                  <a:cubicBezTo>
                    <a:pt x="2883572" y="264826"/>
                    <a:pt x="2881672" y="269412"/>
                    <a:pt x="2878291" y="272793"/>
                  </a:cubicBezTo>
                  <a:cubicBezTo>
                    <a:pt x="2874910" y="276174"/>
                    <a:pt x="2870325" y="278073"/>
                    <a:pt x="2865543" y="278073"/>
                  </a:cubicBezTo>
                  <a:lnTo>
                    <a:pt x="18029" y="278073"/>
                  </a:lnTo>
                  <a:cubicBezTo>
                    <a:pt x="8072" y="278073"/>
                    <a:pt x="0" y="270001"/>
                    <a:pt x="0" y="260044"/>
                  </a:cubicBezTo>
                  <a:lnTo>
                    <a:pt x="0" y="18029"/>
                  </a:lnTo>
                  <a:cubicBezTo>
                    <a:pt x="0" y="8072"/>
                    <a:pt x="8072" y="0"/>
                    <a:pt x="180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8295D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;p2">
              <a:extLst>
                <a:ext uri="{FF2B5EF4-FFF2-40B4-BE49-F238E27FC236}">
                  <a16:creationId xmlns:a16="http://schemas.microsoft.com/office/drawing/2014/main" id="{D0D1F23A-E13C-A993-3EF3-D14258194997}"/>
                </a:ext>
              </a:extLst>
            </p:cNvPr>
            <p:cNvSpPr txBox="1"/>
            <p:nvPr/>
          </p:nvSpPr>
          <p:spPr>
            <a:xfrm>
              <a:off x="51656" y="12189"/>
              <a:ext cx="1652528" cy="251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Bagi Toko Beras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Abunawas</a:t>
              </a:r>
              <a:endPara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Membantu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meningkatkan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efisiensi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akurasi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Meminimalkan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risiko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penurunan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kualitas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beras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akibat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penyimpanan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terlalu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lama.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Memudahkan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pemilik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toko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memantau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ketersediaan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real-time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sebagai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dasar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pengambilan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keputusan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>
                <a:buNone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buNone/>
              </a:pP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Bagi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Peneliti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Menjadi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sarana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penerapan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langsung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teori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konsep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Teknik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Informatika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menyelesaikan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permasalahan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nyata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lapangan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khususnya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perancangan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pengembangan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berbasis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mobile.</a:t>
              </a:r>
            </a:p>
            <a:p>
              <a:pPr>
                <a:buNone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Bagi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Akademisi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Institusi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Pendidikan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Menjadi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tambahan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referensi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ilmiah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terkait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penerapan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teknologi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QR Code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metode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FIFO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digitalisasi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UMKM,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serta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dapat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dijadikan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acuan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bagi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penelitian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selanjutnya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064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92B835B-48A4-866D-34C8-CC7387CE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A4BE46E2-E1F4-40D9-3AD0-3008EB3699A7}"/>
              </a:ext>
            </a:extLst>
          </p:cNvPr>
          <p:cNvSpPr/>
          <p:nvPr/>
        </p:nvSpPr>
        <p:spPr>
          <a:xfrm>
            <a:off x="0" y="-466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CBDC97D6-FEB4-FA19-F5BA-70B824687E20}"/>
              </a:ext>
            </a:extLst>
          </p:cNvPr>
          <p:cNvSpPr/>
          <p:nvPr/>
        </p:nvSpPr>
        <p:spPr>
          <a:xfrm rot="-1753206">
            <a:off x="-946638" y="4717918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>
            <a:extLst>
              <a:ext uri="{FF2B5EF4-FFF2-40B4-BE49-F238E27FC236}">
                <a16:creationId xmlns:a16="http://schemas.microsoft.com/office/drawing/2014/main" id="{24400A1C-E2A8-E282-3C9D-14F7E0E22207}"/>
              </a:ext>
            </a:extLst>
          </p:cNvPr>
          <p:cNvGrpSpPr/>
          <p:nvPr/>
        </p:nvGrpSpPr>
        <p:grpSpPr>
          <a:xfrm>
            <a:off x="5280060" y="465754"/>
            <a:ext cx="7727880" cy="1270640"/>
            <a:chOff x="0" y="-57150"/>
            <a:chExt cx="1747717" cy="287364"/>
          </a:xfrm>
        </p:grpSpPr>
        <p:sp>
          <p:nvSpPr>
            <p:cNvPr id="107" name="Google Shape;107;p2">
              <a:extLst>
                <a:ext uri="{FF2B5EF4-FFF2-40B4-BE49-F238E27FC236}">
                  <a16:creationId xmlns:a16="http://schemas.microsoft.com/office/drawing/2014/main" id="{0631858D-4F0B-81CF-512F-60AA6C56A45E}"/>
                </a:ext>
              </a:extLst>
            </p:cNvPr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ACAB5ABC-E2EC-2A6D-BFB8-81B5FCA89809}"/>
                </a:ext>
              </a:extLst>
            </p:cNvPr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F8D0EBE6-CD72-5022-75E7-F556CE4DED8D}"/>
              </a:ext>
            </a:extLst>
          </p:cNvPr>
          <p:cNvSpPr/>
          <p:nvPr/>
        </p:nvSpPr>
        <p:spPr>
          <a:xfrm>
            <a:off x="16223796" y="668275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63DD94-4C9A-3755-70E6-2A22705ED02D}"/>
              </a:ext>
            </a:extLst>
          </p:cNvPr>
          <p:cNvSpPr/>
          <p:nvPr/>
        </p:nvSpPr>
        <p:spPr>
          <a:xfrm>
            <a:off x="1028700" y="1028700"/>
            <a:ext cx="1783058" cy="295015"/>
          </a:xfrm>
          <a:custGeom>
            <a:avLst/>
            <a:gdLst/>
            <a:ahLst/>
            <a:cxnLst/>
            <a:rect l="l" t="t" r="r" b="b"/>
            <a:pathLst>
              <a:path w="1783058" h="295015" extrusionOk="0">
                <a:moveTo>
                  <a:pt x="0" y="0"/>
                </a:moveTo>
                <a:lnTo>
                  <a:pt x="1783058" y="0"/>
                </a:lnTo>
                <a:lnTo>
                  <a:pt x="1783058" y="295015"/>
                </a:lnTo>
                <a:lnTo>
                  <a:pt x="0" y="29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E46765F-6867-4E29-FB37-0EAE0EBBDB99}"/>
              </a:ext>
            </a:extLst>
          </p:cNvPr>
          <p:cNvSpPr/>
          <p:nvPr/>
        </p:nvSpPr>
        <p:spPr>
          <a:xfrm>
            <a:off x="-456410" y="1733723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5" y="0"/>
                </a:lnTo>
                <a:lnTo>
                  <a:pt x="2556815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2E30620F-C06D-5841-1BA3-3CC8B2967AF4}"/>
              </a:ext>
            </a:extLst>
          </p:cNvPr>
          <p:cNvSpPr txBox="1"/>
          <p:nvPr/>
        </p:nvSpPr>
        <p:spPr>
          <a:xfrm>
            <a:off x="5583409" y="970885"/>
            <a:ext cx="7121182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dirty="0">
                <a:solidFill>
                  <a:srgbClr val="FFFFFF"/>
                </a:solidFill>
                <a:latin typeface="Montserrat ExtraBold"/>
                <a:cs typeface="Montserrat ExtraBold"/>
                <a:sym typeface="Montserrat ExtraBold"/>
              </a:rPr>
              <a:t>RUANG LINGKUP</a:t>
            </a:r>
            <a:endParaRPr dirty="0"/>
          </a:p>
        </p:txBody>
      </p:sp>
      <p:grpSp>
        <p:nvGrpSpPr>
          <p:cNvPr id="121" name="Google Shape;121;p2">
            <a:extLst>
              <a:ext uri="{FF2B5EF4-FFF2-40B4-BE49-F238E27FC236}">
                <a16:creationId xmlns:a16="http://schemas.microsoft.com/office/drawing/2014/main" id="{D38C3D20-5615-1E11-AEBE-960F29989617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22" name="Google Shape;122;p2">
              <a:extLst>
                <a:ext uri="{FF2B5EF4-FFF2-40B4-BE49-F238E27FC236}">
                  <a16:creationId xmlns:a16="http://schemas.microsoft.com/office/drawing/2014/main" id="{A341044F-905C-0E14-06F7-763282EF366B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>
              <a:extLst>
                <a:ext uri="{FF2B5EF4-FFF2-40B4-BE49-F238E27FC236}">
                  <a16:creationId xmlns:a16="http://schemas.microsoft.com/office/drawing/2014/main" id="{9B8C616E-7D30-CBCE-8DC4-28B2EC7A7B87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Ruang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Lingkup</a:t>
              </a:r>
              <a:endParaRPr dirty="0"/>
            </a:p>
          </p:txBody>
        </p:sp>
      </p:grpSp>
      <p:grpSp>
        <p:nvGrpSpPr>
          <p:cNvPr id="2" name="Google Shape;116;p2">
            <a:extLst>
              <a:ext uri="{FF2B5EF4-FFF2-40B4-BE49-F238E27FC236}">
                <a16:creationId xmlns:a16="http://schemas.microsoft.com/office/drawing/2014/main" id="{655FE705-D186-AF5D-8041-313A2BE4AFCE}"/>
              </a:ext>
            </a:extLst>
          </p:cNvPr>
          <p:cNvGrpSpPr/>
          <p:nvPr/>
        </p:nvGrpSpPr>
        <p:grpSpPr>
          <a:xfrm>
            <a:off x="2620736" y="1978572"/>
            <a:ext cx="13046527" cy="7142449"/>
            <a:chOff x="0" y="4771"/>
            <a:chExt cx="2317881" cy="268249"/>
          </a:xfrm>
        </p:grpSpPr>
        <p:sp>
          <p:nvSpPr>
            <p:cNvPr id="3" name="Google Shape;117;p2">
              <a:extLst>
                <a:ext uri="{FF2B5EF4-FFF2-40B4-BE49-F238E27FC236}">
                  <a16:creationId xmlns:a16="http://schemas.microsoft.com/office/drawing/2014/main" id="{5CD0E88A-3C0E-B88E-509E-4DBC2DD725D2}"/>
                </a:ext>
              </a:extLst>
            </p:cNvPr>
            <p:cNvSpPr/>
            <p:nvPr/>
          </p:nvSpPr>
          <p:spPr>
            <a:xfrm>
              <a:off x="0" y="4771"/>
              <a:ext cx="2317881" cy="268249"/>
            </a:xfrm>
            <a:custGeom>
              <a:avLst/>
              <a:gdLst/>
              <a:ahLst/>
              <a:cxnLst/>
              <a:rect l="l" t="t" r="r" b="b"/>
              <a:pathLst>
                <a:path w="2883572" h="278073" extrusionOk="0">
                  <a:moveTo>
                    <a:pt x="18029" y="0"/>
                  </a:moveTo>
                  <a:lnTo>
                    <a:pt x="2865543" y="0"/>
                  </a:lnTo>
                  <a:cubicBezTo>
                    <a:pt x="2875500" y="0"/>
                    <a:pt x="2883572" y="8072"/>
                    <a:pt x="2883572" y="18029"/>
                  </a:cubicBezTo>
                  <a:lnTo>
                    <a:pt x="2883572" y="260044"/>
                  </a:lnTo>
                  <a:cubicBezTo>
                    <a:pt x="2883572" y="264826"/>
                    <a:pt x="2881672" y="269412"/>
                    <a:pt x="2878291" y="272793"/>
                  </a:cubicBezTo>
                  <a:cubicBezTo>
                    <a:pt x="2874910" y="276174"/>
                    <a:pt x="2870325" y="278073"/>
                    <a:pt x="2865543" y="278073"/>
                  </a:cubicBezTo>
                  <a:lnTo>
                    <a:pt x="18029" y="278073"/>
                  </a:lnTo>
                  <a:cubicBezTo>
                    <a:pt x="8072" y="278073"/>
                    <a:pt x="0" y="270001"/>
                    <a:pt x="0" y="260044"/>
                  </a:cubicBezTo>
                  <a:lnTo>
                    <a:pt x="0" y="18029"/>
                  </a:lnTo>
                  <a:cubicBezTo>
                    <a:pt x="0" y="8072"/>
                    <a:pt x="8072" y="0"/>
                    <a:pt x="180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8295D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;p2">
              <a:extLst>
                <a:ext uri="{FF2B5EF4-FFF2-40B4-BE49-F238E27FC236}">
                  <a16:creationId xmlns:a16="http://schemas.microsoft.com/office/drawing/2014/main" id="{8A169319-47E1-82DA-D09F-E31360CB1AF4}"/>
                </a:ext>
              </a:extLst>
            </p:cNvPr>
            <p:cNvSpPr txBox="1"/>
            <p:nvPr/>
          </p:nvSpPr>
          <p:spPr>
            <a:xfrm>
              <a:off x="51656" y="12189"/>
              <a:ext cx="2234315" cy="248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Ruang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lingkup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penelitian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dibatasi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pada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beberapa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aspek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</a:t>
              </a:r>
            </a:p>
            <a:p>
              <a:pPr>
                <a:buNone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Fokus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dikembangkan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merupakan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aplikasi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manajemen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(inventory)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berfokus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pada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pergerakan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barang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dan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tidak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mencakup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fungsi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kasir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atau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transaksi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penjualan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Aktor dan Hak Akses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Sistem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memiliki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dua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jenis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pengguna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yaitu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Admin (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Pemilik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Toko)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berperan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pengawasan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dan monitoring data,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serta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Karyawan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yang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bertanggung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jawab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terhadap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operasional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di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gudang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Alur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Kerja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Pengelolaan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Stok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Pencatatan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masuk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dilakukan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secara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manual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menghasilkan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QR Code batch,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sedangkan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pengeluaran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stok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dilakukan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melalui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pemindaian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QR Code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guna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mendukung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penerapan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metode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First-In, First-Out (FIFO).</a:t>
              </a:r>
            </a:p>
            <a:p>
              <a:pPr marL="342900" indent="-342900">
                <a:buFont typeface="+mj-lt"/>
                <a:buAutoNum type="arabicPeriod"/>
              </a:pPr>
              <a:endParaRPr lang="en-ID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Platform dan </a:t>
              </a:r>
              <a:r>
                <a:rPr lang="en-ID" sz="2400" b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Teknologi</a:t>
              </a:r>
              <a:b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Aplikasi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dikembangkan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berbasis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Android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menggunakan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framework Flutter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sebagai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frontend dan </a:t>
              </a:r>
              <a:r>
                <a:rPr lang="en-ID" sz="2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Firebase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sebagai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backend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untuk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peyimpanan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data </a:t>
              </a:r>
              <a:r>
                <a:rPr lang="en-ID" sz="2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berbasis</a:t>
              </a:r>
              <a:r>
                <a:rPr lang="en-ID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cloud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400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grpSp>
        <p:nvGrpSpPr>
          <p:cNvPr id="129" name="Google Shape;129;p3"/>
          <p:cNvGrpSpPr/>
          <p:nvPr/>
        </p:nvGrpSpPr>
        <p:grpSpPr>
          <a:xfrm>
            <a:off x="5146878" y="759632"/>
            <a:ext cx="7994243" cy="1144463"/>
            <a:chOff x="0" y="-57150"/>
            <a:chExt cx="1970080" cy="282038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1970080" cy="224888"/>
            </a:xfrm>
            <a:custGeom>
              <a:avLst/>
              <a:gdLst/>
              <a:ahLst/>
              <a:cxnLst/>
              <a:rect l="l" t="t" r="r" b="b"/>
              <a:pathLst>
                <a:path w="1970080" h="224888" extrusionOk="0">
                  <a:moveTo>
                    <a:pt x="25179" y="0"/>
                  </a:moveTo>
                  <a:lnTo>
                    <a:pt x="1944900" y="0"/>
                  </a:lnTo>
                  <a:cubicBezTo>
                    <a:pt x="1958807" y="0"/>
                    <a:pt x="1970080" y="11273"/>
                    <a:pt x="1970080" y="25179"/>
                  </a:cubicBezTo>
                  <a:lnTo>
                    <a:pt x="1970080" y="199709"/>
                  </a:lnTo>
                  <a:cubicBezTo>
                    <a:pt x="1970080" y="213615"/>
                    <a:pt x="1958807" y="224888"/>
                    <a:pt x="1944900" y="224888"/>
                  </a:cubicBezTo>
                  <a:lnTo>
                    <a:pt x="25179" y="224888"/>
                  </a:lnTo>
                  <a:cubicBezTo>
                    <a:pt x="11273" y="224888"/>
                    <a:pt x="0" y="213615"/>
                    <a:pt x="0" y="199709"/>
                  </a:cubicBezTo>
                  <a:lnTo>
                    <a:pt x="0" y="25179"/>
                  </a:lnTo>
                  <a:cubicBezTo>
                    <a:pt x="0" y="11273"/>
                    <a:pt x="11273" y="0"/>
                    <a:pt x="251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3F419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-57150"/>
              <a:ext cx="1970080" cy="282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3"/>
          <p:cNvSpPr txBox="1"/>
          <p:nvPr/>
        </p:nvSpPr>
        <p:spPr>
          <a:xfrm>
            <a:off x="5000524" y="1166713"/>
            <a:ext cx="7975525" cy="46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11" b="0" i="0" u="none" strike="noStrike" cap="none" dirty="0">
                <a:solidFill>
                  <a:srgbClr val="263F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STUDI LITERATUR</a:t>
            </a:r>
            <a:endParaRPr dirty="0"/>
          </a:p>
        </p:txBody>
      </p:sp>
      <p:sp>
        <p:nvSpPr>
          <p:cNvPr id="133" name="Google Shape;133;p3"/>
          <p:cNvSpPr/>
          <p:nvPr/>
        </p:nvSpPr>
        <p:spPr>
          <a:xfrm rot="7659121">
            <a:off x="14918976" y="5307611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 extrusionOk="0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3"/>
          <p:cNvSpPr/>
          <p:nvPr/>
        </p:nvSpPr>
        <p:spPr>
          <a:xfrm>
            <a:off x="-2387953" y="-3899699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5" name="Google Shape;135;p3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Studi Literatur</a:t>
              </a: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6982E58-BD1B-469B-866D-31C3C23A2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089" y="2169561"/>
            <a:ext cx="14237820" cy="7268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3821E2-1F07-A62A-1A83-4A1AA0C33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945" y="4242954"/>
            <a:ext cx="9144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43" name="Google Shape;143;p4"/>
          <p:cNvSpPr/>
          <p:nvPr/>
        </p:nvSpPr>
        <p:spPr>
          <a:xfrm rot="-1753206">
            <a:off x="-1792406" y="4722394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</p:txBody>
      </p:sp>
      <p:grpSp>
        <p:nvGrpSpPr>
          <p:cNvPr id="144" name="Google Shape;144;p4"/>
          <p:cNvGrpSpPr/>
          <p:nvPr/>
        </p:nvGrpSpPr>
        <p:grpSpPr>
          <a:xfrm>
            <a:off x="320391" y="3463543"/>
            <a:ext cx="3359915" cy="3359915"/>
            <a:chOff x="0" y="0"/>
            <a:chExt cx="812800" cy="812800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 cmpd="sng">
              <a:solidFill>
                <a:srgbClr val="404296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72032" y="60777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4" b="1" i="0" u="none" strike="noStrike" cap="none" dirty="0">
                  <a:solidFill>
                    <a:srgbClr val="3F4196"/>
                  </a:solidFill>
                  <a:latin typeface="Arial"/>
                  <a:ea typeface="Arial"/>
                  <a:cs typeface="Arial"/>
                  <a:sym typeface="Arial"/>
                </a:rPr>
                <a:t>LANDASAN TEORI</a:t>
              </a:r>
              <a:endParaRPr dirty="0"/>
            </a:p>
          </p:txBody>
        </p:sp>
      </p:grpSp>
      <p:sp>
        <p:nvSpPr>
          <p:cNvPr id="147" name="Google Shape;147;p4"/>
          <p:cNvSpPr/>
          <p:nvPr/>
        </p:nvSpPr>
        <p:spPr>
          <a:xfrm rot="-446559">
            <a:off x="3913206" y="4814635"/>
            <a:ext cx="1413002" cy="386809"/>
          </a:xfrm>
          <a:custGeom>
            <a:avLst/>
            <a:gdLst/>
            <a:ahLst/>
            <a:cxnLst/>
            <a:rect l="l" t="t" r="r" b="b"/>
            <a:pathLst>
              <a:path w="1413002" h="386809" extrusionOk="0">
                <a:moveTo>
                  <a:pt x="0" y="0"/>
                </a:moveTo>
                <a:lnTo>
                  <a:pt x="1413002" y="0"/>
                </a:lnTo>
                <a:lnTo>
                  <a:pt x="1413002" y="386810"/>
                </a:lnTo>
                <a:lnTo>
                  <a:pt x="0" y="386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4"/>
          <p:cNvSpPr/>
          <p:nvPr/>
        </p:nvSpPr>
        <p:spPr>
          <a:xfrm rot="2476329">
            <a:off x="3821142" y="6058927"/>
            <a:ext cx="1413002" cy="386809"/>
          </a:xfrm>
          <a:custGeom>
            <a:avLst/>
            <a:gdLst/>
            <a:ahLst/>
            <a:cxnLst/>
            <a:rect l="l" t="t" r="r" b="b"/>
            <a:pathLst>
              <a:path w="1413002" h="386809" extrusionOk="0">
                <a:moveTo>
                  <a:pt x="0" y="0"/>
                </a:moveTo>
                <a:lnTo>
                  <a:pt x="1413002" y="0"/>
                </a:lnTo>
                <a:lnTo>
                  <a:pt x="1413002" y="386809"/>
                </a:lnTo>
                <a:lnTo>
                  <a:pt x="0" y="386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-2387953" y="-3899699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1" name="Google Shape;151;p4"/>
          <p:cNvSpPr/>
          <p:nvPr/>
        </p:nvSpPr>
        <p:spPr>
          <a:xfrm>
            <a:off x="5579125" y="3994181"/>
            <a:ext cx="12418987" cy="1854762"/>
          </a:xfrm>
          <a:custGeom>
            <a:avLst/>
            <a:gdLst/>
            <a:ahLst/>
            <a:cxnLst/>
            <a:rect l="l" t="t" r="r" b="b"/>
            <a:pathLst>
              <a:path w="3265974" h="408170" extrusionOk="0">
                <a:moveTo>
                  <a:pt x="3062773" y="0"/>
                </a:moveTo>
                <a:cubicBezTo>
                  <a:pt x="3174998" y="0"/>
                  <a:pt x="3265974" y="91372"/>
                  <a:pt x="3265974" y="204085"/>
                </a:cubicBezTo>
                <a:cubicBezTo>
                  <a:pt x="3265974" y="316798"/>
                  <a:pt x="3174998" y="408170"/>
                  <a:pt x="3062773" y="408170"/>
                </a:cubicBezTo>
                <a:lnTo>
                  <a:pt x="203200" y="408170"/>
                </a:lnTo>
                <a:cubicBezTo>
                  <a:pt x="90976" y="408170"/>
                  <a:pt x="0" y="316798"/>
                  <a:pt x="0" y="204085"/>
                </a:cubicBezTo>
                <a:cubicBezTo>
                  <a:pt x="0" y="91372"/>
                  <a:pt x="90976" y="0"/>
                  <a:pt x="203200" y="0"/>
                </a:cubicBezTo>
                <a:close/>
              </a:path>
            </a:pathLst>
          </a:custGeom>
          <a:solidFill>
            <a:srgbClr val="297A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"/>
          <p:cNvSpPr/>
          <p:nvPr/>
        </p:nvSpPr>
        <p:spPr>
          <a:xfrm rot="8100000">
            <a:off x="13935029" y="6372717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 extrusionOk="0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4" name="Google Shape;154;p4"/>
          <p:cNvSpPr/>
          <p:nvPr/>
        </p:nvSpPr>
        <p:spPr>
          <a:xfrm rot="-1482789">
            <a:off x="3732719" y="3673703"/>
            <a:ext cx="1413002" cy="386809"/>
          </a:xfrm>
          <a:custGeom>
            <a:avLst/>
            <a:gdLst/>
            <a:ahLst/>
            <a:cxnLst/>
            <a:rect l="l" t="t" r="r" b="b"/>
            <a:pathLst>
              <a:path w="1413002" h="386809" extrusionOk="0">
                <a:moveTo>
                  <a:pt x="0" y="0"/>
                </a:moveTo>
                <a:lnTo>
                  <a:pt x="1413002" y="0"/>
                </a:lnTo>
                <a:lnTo>
                  <a:pt x="1413002" y="386809"/>
                </a:lnTo>
                <a:lnTo>
                  <a:pt x="0" y="386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6" name="Google Shape;156;p4"/>
          <p:cNvSpPr/>
          <p:nvPr/>
        </p:nvSpPr>
        <p:spPr>
          <a:xfrm>
            <a:off x="5303071" y="1860018"/>
            <a:ext cx="12702177" cy="1992082"/>
          </a:xfrm>
          <a:custGeom>
            <a:avLst/>
            <a:gdLst/>
            <a:ahLst/>
            <a:cxnLst/>
            <a:rect l="l" t="t" r="r" b="b"/>
            <a:pathLst>
              <a:path w="3265974" h="408170" extrusionOk="0">
                <a:moveTo>
                  <a:pt x="3062773" y="0"/>
                </a:moveTo>
                <a:cubicBezTo>
                  <a:pt x="3174998" y="0"/>
                  <a:pt x="3265974" y="91372"/>
                  <a:pt x="3265974" y="204085"/>
                </a:cubicBezTo>
                <a:cubicBezTo>
                  <a:pt x="3265974" y="316798"/>
                  <a:pt x="3174998" y="408170"/>
                  <a:pt x="3062773" y="408170"/>
                </a:cubicBezTo>
                <a:lnTo>
                  <a:pt x="203200" y="408170"/>
                </a:lnTo>
                <a:cubicBezTo>
                  <a:pt x="90976" y="408170"/>
                  <a:pt x="0" y="316798"/>
                  <a:pt x="0" y="204085"/>
                </a:cubicBezTo>
                <a:cubicBezTo>
                  <a:pt x="0" y="91372"/>
                  <a:pt x="90976" y="0"/>
                  <a:pt x="203200" y="0"/>
                </a:cubicBezTo>
                <a:close/>
              </a:path>
            </a:pathLst>
          </a:custGeom>
          <a:solidFill>
            <a:srgbClr val="3F41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5535235" y="5986057"/>
            <a:ext cx="12432373" cy="2131575"/>
          </a:xfrm>
          <a:custGeom>
            <a:avLst/>
            <a:gdLst/>
            <a:ahLst/>
            <a:cxnLst/>
            <a:rect l="l" t="t" r="r" b="b"/>
            <a:pathLst>
              <a:path w="3265974" h="408170" extrusionOk="0">
                <a:moveTo>
                  <a:pt x="3062773" y="0"/>
                </a:moveTo>
                <a:cubicBezTo>
                  <a:pt x="3174998" y="0"/>
                  <a:pt x="3265974" y="91372"/>
                  <a:pt x="3265974" y="204085"/>
                </a:cubicBezTo>
                <a:cubicBezTo>
                  <a:pt x="3265974" y="316798"/>
                  <a:pt x="3174998" y="408170"/>
                  <a:pt x="3062773" y="408170"/>
                </a:cubicBezTo>
                <a:lnTo>
                  <a:pt x="203200" y="408170"/>
                </a:lnTo>
                <a:cubicBezTo>
                  <a:pt x="90976" y="408170"/>
                  <a:pt x="0" y="316798"/>
                  <a:pt x="0" y="204085"/>
                </a:cubicBezTo>
                <a:cubicBezTo>
                  <a:pt x="0" y="91372"/>
                  <a:pt x="90976" y="0"/>
                  <a:pt x="203200" y="0"/>
                </a:cubicBezTo>
                <a:close/>
              </a:path>
            </a:pathLst>
          </a:custGeom>
          <a:solidFill>
            <a:srgbClr val="EC58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</p:txBody>
      </p:sp>
      <p:grpSp>
        <p:nvGrpSpPr>
          <p:cNvPr id="161" name="Google Shape;161;p4"/>
          <p:cNvGrpSpPr/>
          <p:nvPr/>
        </p:nvGrpSpPr>
        <p:grpSpPr>
          <a:xfrm>
            <a:off x="5579125" y="9505698"/>
            <a:ext cx="11040385" cy="781308"/>
            <a:chOff x="0" y="-66675"/>
            <a:chExt cx="2718704" cy="252173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Landasan Teori</a:t>
              </a:r>
              <a:endParaRPr/>
            </a:p>
          </p:txBody>
        </p:sp>
      </p:grpSp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E390CEE4-8466-3A91-DD46-1C8732DCB262}"/>
              </a:ext>
            </a:extLst>
          </p:cNvPr>
          <p:cNvSpPr txBox="1"/>
          <p:nvPr/>
        </p:nvSpPr>
        <p:spPr>
          <a:xfrm>
            <a:off x="5885326" y="1897340"/>
            <a:ext cx="12029447" cy="1785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None/>
            </a:pPr>
            <a:r>
              <a:rPr lang="en-ID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Metode First-In, First-Out (FIFO)</a:t>
            </a:r>
          </a:p>
          <a:p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FIFO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merupakan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persediaan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memprioritaskan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pengeluaran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berdasarkan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urutan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waktu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masuk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Metode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sesuai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diterapkan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pada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produk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beras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karena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memiliki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risiko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penurunan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kualitas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apabila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disimpan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terlalu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lama.</a:t>
            </a: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0E888C55-3C63-CDF5-6A70-8BA9C18301AC}"/>
              </a:ext>
            </a:extLst>
          </p:cNvPr>
          <p:cNvSpPr txBox="1"/>
          <p:nvPr/>
        </p:nvSpPr>
        <p:spPr>
          <a:xfrm>
            <a:off x="6231011" y="3905291"/>
            <a:ext cx="11515813" cy="187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None/>
            </a:pPr>
            <a:r>
              <a:rPr lang="en-ID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en-ID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Teknologi</a:t>
            </a:r>
            <a:r>
              <a:rPr lang="en-ID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QR Code</a:t>
            </a:r>
          </a:p>
          <a:p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QR Code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dipilih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teknologi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identifikasi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karena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mampu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menyimpan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informasi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lebih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kompleks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serta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dapat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dibaca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cepat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menggunakan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kamera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perangkat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mobile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tanpa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memerlukan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alat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pemindai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khusus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" name="Google Shape;118;p2">
            <a:extLst>
              <a:ext uri="{FF2B5EF4-FFF2-40B4-BE49-F238E27FC236}">
                <a16:creationId xmlns:a16="http://schemas.microsoft.com/office/drawing/2014/main" id="{51CF1E76-C0DE-70C8-2BC6-A8830B27E2F3}"/>
              </a:ext>
            </a:extLst>
          </p:cNvPr>
          <p:cNvSpPr txBox="1"/>
          <p:nvPr/>
        </p:nvSpPr>
        <p:spPr>
          <a:xfrm>
            <a:off x="6129238" y="5873248"/>
            <a:ext cx="11785535" cy="187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None/>
            </a:pPr>
            <a:endParaRPr lang="en-ID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ID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Metode </a:t>
            </a:r>
            <a:r>
              <a:rPr lang="en-ID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Pengembangan</a:t>
            </a:r>
            <a:r>
              <a:rPr lang="en-ID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Prototyping</a:t>
            </a:r>
          </a:p>
          <a:p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 Prototyping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menekankan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pada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pelibatan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proses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pengembangan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Pendekatan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memungkinkan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pembuatan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prototype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awal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dievaluasi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oleh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kemudian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disempurnakan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berdasarkan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sehingga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dihasilkan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lebih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sesuai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kebutuhan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sp>
        <p:nvSpPr>
          <p:cNvPr id="169" name="Google Shape;169;p5"/>
          <p:cNvSpPr/>
          <p:nvPr/>
        </p:nvSpPr>
        <p:spPr>
          <a:xfrm>
            <a:off x="-1528116" y="1011601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0" name="Google Shape;170;p5"/>
          <p:cNvSpPr/>
          <p:nvPr/>
        </p:nvSpPr>
        <p:spPr>
          <a:xfrm>
            <a:off x="17283990" y="6539806"/>
            <a:ext cx="2556816" cy="2575547"/>
          </a:xfrm>
          <a:custGeom>
            <a:avLst/>
            <a:gdLst/>
            <a:ahLst/>
            <a:cxnLst/>
            <a:rect l="l" t="t" r="r" b="b"/>
            <a:pathLst>
              <a:path w="2556816" h="2575547" extrusionOk="0">
                <a:moveTo>
                  <a:pt x="0" y="0"/>
                </a:moveTo>
                <a:lnTo>
                  <a:pt x="2556816" y="0"/>
                </a:lnTo>
                <a:lnTo>
                  <a:pt x="2556816" y="2575547"/>
                </a:lnTo>
                <a:lnTo>
                  <a:pt x="0" y="2575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1" name="Google Shape;171;p5"/>
          <p:cNvGrpSpPr/>
          <p:nvPr/>
        </p:nvGrpSpPr>
        <p:grpSpPr>
          <a:xfrm>
            <a:off x="4991342" y="480716"/>
            <a:ext cx="8305311" cy="1270640"/>
            <a:chOff x="0" y="-57150"/>
            <a:chExt cx="1747717" cy="287364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1747717" cy="230214"/>
            </a:xfrm>
            <a:custGeom>
              <a:avLst/>
              <a:gdLst/>
              <a:ahLst/>
              <a:cxnLst/>
              <a:rect l="l" t="t" r="r" b="b"/>
              <a:pathLst>
                <a:path w="1747717" h="230214" extrusionOk="0">
                  <a:moveTo>
                    <a:pt x="26047" y="0"/>
                  </a:moveTo>
                  <a:lnTo>
                    <a:pt x="1721670" y="0"/>
                  </a:lnTo>
                  <a:cubicBezTo>
                    <a:pt x="1736055" y="0"/>
                    <a:pt x="1747717" y="11662"/>
                    <a:pt x="1747717" y="26047"/>
                  </a:cubicBezTo>
                  <a:lnTo>
                    <a:pt x="1747717" y="204167"/>
                  </a:lnTo>
                  <a:cubicBezTo>
                    <a:pt x="1747717" y="211075"/>
                    <a:pt x="1744973" y="217701"/>
                    <a:pt x="1740088" y="222585"/>
                  </a:cubicBezTo>
                  <a:cubicBezTo>
                    <a:pt x="1735203" y="227470"/>
                    <a:pt x="1728578" y="230214"/>
                    <a:pt x="1721670" y="230214"/>
                  </a:cubicBezTo>
                  <a:lnTo>
                    <a:pt x="26047" y="230214"/>
                  </a:lnTo>
                  <a:cubicBezTo>
                    <a:pt x="11662" y="230214"/>
                    <a:pt x="0" y="218553"/>
                    <a:pt x="0" y="204167"/>
                  </a:cubicBezTo>
                  <a:lnTo>
                    <a:pt x="0" y="26047"/>
                  </a:lnTo>
                  <a:cubicBezTo>
                    <a:pt x="0" y="11662"/>
                    <a:pt x="11662" y="0"/>
                    <a:pt x="26047" y="0"/>
                  </a:cubicBezTo>
                  <a:close/>
                </a:path>
              </a:pathLst>
            </a:custGeom>
            <a:solidFill>
              <a:srgbClr val="3F41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0" y="-57150"/>
              <a:ext cx="1747717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/>
          <p:cNvSpPr txBox="1"/>
          <p:nvPr/>
        </p:nvSpPr>
        <p:spPr>
          <a:xfrm>
            <a:off x="5234285" y="932475"/>
            <a:ext cx="7819427" cy="6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0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METODE PENGEMBANGAN</a:t>
            </a:r>
            <a:endParaRPr dirty="0"/>
          </a:p>
        </p:txBody>
      </p:sp>
      <p:grpSp>
        <p:nvGrpSpPr>
          <p:cNvPr id="175" name="Google Shape;175;p5"/>
          <p:cNvGrpSpPr/>
          <p:nvPr/>
        </p:nvGrpSpPr>
        <p:grpSpPr>
          <a:xfrm>
            <a:off x="5579125" y="9542922"/>
            <a:ext cx="11040385" cy="744087"/>
            <a:chOff x="0" y="-66675"/>
            <a:chExt cx="2718704" cy="252173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Metode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Pengembangan</a:t>
              </a:r>
              <a:endParaRPr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1D5DBC8-7C60-EEC6-4B3E-420BBF20E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442" y="2597964"/>
            <a:ext cx="10825110" cy="2690006"/>
          </a:xfrm>
          <a:prstGeom prst="rect">
            <a:avLst/>
          </a:prstGeom>
        </p:spPr>
      </p:pic>
      <p:sp>
        <p:nvSpPr>
          <p:cNvPr id="6" name="Google Shape;118;p2">
            <a:extLst>
              <a:ext uri="{FF2B5EF4-FFF2-40B4-BE49-F238E27FC236}">
                <a16:creationId xmlns:a16="http://schemas.microsoft.com/office/drawing/2014/main" id="{DD71F77B-2BCC-8382-3F87-1DDA2A915F4A}"/>
              </a:ext>
            </a:extLst>
          </p:cNvPr>
          <p:cNvSpPr txBox="1"/>
          <p:nvPr/>
        </p:nvSpPr>
        <p:spPr>
          <a:xfrm>
            <a:off x="2441682" y="5560005"/>
            <a:ext cx="13404630" cy="34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just">
              <a:buNone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pengembangan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digunakan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penelitian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adalah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 Prototyping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Metode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dipilih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karena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memungkinkan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pengembangan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secara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iteratif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melibatkan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secara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langsung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sejak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tahap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buNone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Melalui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Prototyping,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kebutuhan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dapat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divalidasi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secara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bertahap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melalui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pembuatan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purwarupa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kemudian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dievaluasi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oleh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memperoleh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balik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Hasil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tersebut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digunakan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perbaikan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penyempurnaan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hingga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dikembangkan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benar-benar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sesuai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kebutuhan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operasional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Toko Beras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Abunawas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khususnya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penerapan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QR Code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pada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" name="Google Shape;118;p2">
            <a:extLst>
              <a:ext uri="{FF2B5EF4-FFF2-40B4-BE49-F238E27FC236}">
                <a16:creationId xmlns:a16="http://schemas.microsoft.com/office/drawing/2014/main" id="{107B9AAD-86B0-BFAE-B6D0-F070D35E5489}"/>
              </a:ext>
            </a:extLst>
          </p:cNvPr>
          <p:cNvSpPr txBox="1"/>
          <p:nvPr/>
        </p:nvSpPr>
        <p:spPr>
          <a:xfrm>
            <a:off x="7496354" y="2161879"/>
            <a:ext cx="3295286" cy="49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just">
              <a:buNone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 Prototyping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None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8" r="-59"/>
            </a:stretch>
          </a:blipFill>
          <a:ln>
            <a:noFill/>
          </a:ln>
        </p:spPr>
      </p:sp>
      <p:grpSp>
        <p:nvGrpSpPr>
          <p:cNvPr id="183" name="Google Shape;183;p6"/>
          <p:cNvGrpSpPr/>
          <p:nvPr/>
        </p:nvGrpSpPr>
        <p:grpSpPr>
          <a:xfrm>
            <a:off x="5146878" y="759632"/>
            <a:ext cx="7994243" cy="1144463"/>
            <a:chOff x="0" y="-57150"/>
            <a:chExt cx="1970080" cy="282038"/>
          </a:xfrm>
        </p:grpSpPr>
        <p:sp>
          <p:nvSpPr>
            <p:cNvPr id="184" name="Google Shape;184;p6"/>
            <p:cNvSpPr/>
            <p:nvPr/>
          </p:nvSpPr>
          <p:spPr>
            <a:xfrm>
              <a:off x="0" y="0"/>
              <a:ext cx="1970080" cy="224888"/>
            </a:xfrm>
            <a:custGeom>
              <a:avLst/>
              <a:gdLst/>
              <a:ahLst/>
              <a:cxnLst/>
              <a:rect l="l" t="t" r="r" b="b"/>
              <a:pathLst>
                <a:path w="1970080" h="224888" extrusionOk="0">
                  <a:moveTo>
                    <a:pt x="25179" y="0"/>
                  </a:moveTo>
                  <a:lnTo>
                    <a:pt x="1944900" y="0"/>
                  </a:lnTo>
                  <a:cubicBezTo>
                    <a:pt x="1958807" y="0"/>
                    <a:pt x="1970080" y="11273"/>
                    <a:pt x="1970080" y="25179"/>
                  </a:cubicBezTo>
                  <a:lnTo>
                    <a:pt x="1970080" y="199709"/>
                  </a:lnTo>
                  <a:cubicBezTo>
                    <a:pt x="1970080" y="213615"/>
                    <a:pt x="1958807" y="224888"/>
                    <a:pt x="1944900" y="224888"/>
                  </a:cubicBezTo>
                  <a:lnTo>
                    <a:pt x="25179" y="224888"/>
                  </a:lnTo>
                  <a:cubicBezTo>
                    <a:pt x="11273" y="224888"/>
                    <a:pt x="0" y="213615"/>
                    <a:pt x="0" y="199709"/>
                  </a:cubicBezTo>
                  <a:lnTo>
                    <a:pt x="0" y="25179"/>
                  </a:lnTo>
                  <a:cubicBezTo>
                    <a:pt x="0" y="11273"/>
                    <a:pt x="11273" y="0"/>
                    <a:pt x="251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3F419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0" y="-57150"/>
              <a:ext cx="1970080" cy="282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6"/>
          <p:cNvSpPr txBox="1"/>
          <p:nvPr/>
        </p:nvSpPr>
        <p:spPr>
          <a:xfrm>
            <a:off x="5000524" y="1222696"/>
            <a:ext cx="7975525" cy="46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11" b="0" i="0" u="none" strike="noStrike" cap="none">
                <a:solidFill>
                  <a:srgbClr val="263F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TAHAPAN PENELITIAN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 rot="7659121">
            <a:off x="14918976" y="5307611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 extrusionOk="0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8" name="Google Shape;188;p6"/>
          <p:cNvSpPr/>
          <p:nvPr/>
        </p:nvSpPr>
        <p:spPr>
          <a:xfrm>
            <a:off x="-2387953" y="-3899699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9" name="Google Shape;189;p6"/>
          <p:cNvGrpSpPr/>
          <p:nvPr/>
        </p:nvGrpSpPr>
        <p:grpSpPr>
          <a:xfrm>
            <a:off x="5579125" y="9580127"/>
            <a:ext cx="11040385" cy="706866"/>
            <a:chOff x="0" y="-66675"/>
            <a:chExt cx="2718704" cy="252173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0" y="-66675"/>
              <a:ext cx="2718704" cy="252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Tahapan Penelitian</a:t>
              </a:r>
              <a:endParaRPr/>
            </a:p>
          </p:txBody>
        </p:sp>
      </p:grpSp>
      <p:sp>
        <p:nvSpPr>
          <p:cNvPr id="2" name="Google Shape;118;p2">
            <a:extLst>
              <a:ext uri="{FF2B5EF4-FFF2-40B4-BE49-F238E27FC236}">
                <a16:creationId xmlns:a16="http://schemas.microsoft.com/office/drawing/2014/main" id="{ECE9595D-7A35-C8AC-AEC5-38878D2A9E62}"/>
              </a:ext>
            </a:extLst>
          </p:cNvPr>
          <p:cNvSpPr txBox="1"/>
          <p:nvPr/>
        </p:nvSpPr>
        <p:spPr>
          <a:xfrm>
            <a:off x="3222252" y="1985201"/>
            <a:ext cx="11843493" cy="72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Identifikasi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Masalah dan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Pengumpulan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</a:t>
            </a:r>
            <a:b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melalui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wawancara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literatur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memahami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permasalahan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terjadi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 Toko Beras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Abunawas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Analisis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Kebutuhan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b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Menentukan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kebutuhan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fungsional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nonfungsional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berdasarkan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hasil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pengumpulan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termasuk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kebutuhan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penerapan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QR Code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FIFO.</a:t>
            </a:r>
          </a:p>
          <a:p>
            <a:pPr marL="457200" indent="-457200">
              <a:buFont typeface="+mj-lt"/>
              <a:buAutoNum type="arabicPeriod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Perancangan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Pembuatan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Prototype</a:t>
            </a:r>
            <a:b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Merancang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menggunakan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UML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serta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membangun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prototype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berbasis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mobile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gambaran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Penyempurnaan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Prototype</a:t>
            </a:r>
            <a:b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Prototype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dievaluasi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bersama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memperoleh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balik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kemudian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perbaikan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secara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iteratif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hingga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sesuai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kebutuhan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operasional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Dokumentasi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b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Prototype yang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telah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disetujui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diimplementasikan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menjadi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final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didokumentasikan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laporan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Tugas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Akhir.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Google Shape;227;p8"/>
          <p:cNvSpPr/>
          <p:nvPr/>
        </p:nvSpPr>
        <p:spPr>
          <a:xfrm rot="-1753206">
            <a:off x="-860347" y="4197007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-2793228" y="-4365102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3" name="Google Shape;233;p8"/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234" name="Google Shape;234;p8"/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/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Flowchart </a:t>
              </a:r>
              <a:r>
                <a:rPr lang="en-US" sz="2000" b="0" i="0" u="none" strike="noStrike" cap="none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Sistem</a:t>
              </a:r>
              <a:endParaRPr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95F86EA-7383-5CFC-0830-24ACE4472A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728" y="1573069"/>
            <a:ext cx="4654675" cy="7970751"/>
          </a:xfrm>
          <a:prstGeom prst="rect">
            <a:avLst/>
          </a:prstGeom>
        </p:spPr>
      </p:pic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330002A2-720B-B2AE-79CD-C1EDB6CB06F1}"/>
              </a:ext>
            </a:extLst>
          </p:cNvPr>
          <p:cNvSpPr txBox="1"/>
          <p:nvPr/>
        </p:nvSpPr>
        <p:spPr>
          <a:xfrm>
            <a:off x="6923314" y="1573069"/>
            <a:ext cx="10744200" cy="7852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None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Flowchart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Stok</a:t>
            </a:r>
          </a:p>
          <a:p>
            <a:pPr>
              <a:buNone/>
            </a:pPr>
            <a:endParaRPr lang="en-ID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Flowchart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menggambarkan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alur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kerja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operasional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berbasis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mobile,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proses login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hingga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dan monitoring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Pada proses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menerapkan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memastikan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lebih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lama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diprioritaskan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terlebih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dahulu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sebelum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transaksi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disimpan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ID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ID" sz="11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membuka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</a:p>
          <a:p>
            <a:pPr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endParaRPr lang="en-ID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mengakses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endParaRPr lang="en-ID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memilih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menu:</a:t>
            </a:r>
          </a:p>
          <a:p>
            <a:pPr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Monitoring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masuk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(scan QR Code)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</a:t>
            </a:r>
          </a:p>
          <a:p>
            <a:pPr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memperbarui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menyimpan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transaksi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oogle Shape;241;p9">
            <a:extLst>
              <a:ext uri="{FF2B5EF4-FFF2-40B4-BE49-F238E27FC236}">
                <a16:creationId xmlns:a16="http://schemas.microsoft.com/office/drawing/2014/main" id="{CD18F234-62AD-7157-3DB8-0B2D0D2C1BEF}"/>
              </a:ext>
            </a:extLst>
          </p:cNvPr>
          <p:cNvGrpSpPr/>
          <p:nvPr/>
        </p:nvGrpSpPr>
        <p:grpSpPr>
          <a:xfrm>
            <a:off x="7221388" y="684815"/>
            <a:ext cx="4434454" cy="769247"/>
            <a:chOff x="0" y="-57150"/>
            <a:chExt cx="1656562" cy="287364"/>
          </a:xfrm>
        </p:grpSpPr>
        <p:sp>
          <p:nvSpPr>
            <p:cNvPr id="5" name="Google Shape;242;p9">
              <a:extLst>
                <a:ext uri="{FF2B5EF4-FFF2-40B4-BE49-F238E27FC236}">
                  <a16:creationId xmlns:a16="http://schemas.microsoft.com/office/drawing/2014/main" id="{B897972D-DE07-F20A-15E1-229A3EEA9A35}"/>
                </a:ext>
              </a:extLst>
            </p:cNvPr>
            <p:cNvSpPr/>
            <p:nvPr/>
          </p:nvSpPr>
          <p:spPr>
            <a:xfrm>
              <a:off x="0" y="0"/>
              <a:ext cx="1656562" cy="230214"/>
            </a:xfrm>
            <a:custGeom>
              <a:avLst/>
              <a:gdLst/>
              <a:ahLst/>
              <a:cxnLst/>
              <a:rect l="l" t="t" r="r" b="b"/>
              <a:pathLst>
                <a:path w="1656562" h="230214" extrusionOk="0">
                  <a:moveTo>
                    <a:pt x="45392" y="0"/>
                  </a:moveTo>
                  <a:lnTo>
                    <a:pt x="1611169" y="0"/>
                  </a:lnTo>
                  <a:cubicBezTo>
                    <a:pt x="1636239" y="0"/>
                    <a:pt x="1656562" y="20323"/>
                    <a:pt x="1656562" y="45392"/>
                  </a:cubicBezTo>
                  <a:lnTo>
                    <a:pt x="1656562" y="184822"/>
                  </a:lnTo>
                  <a:cubicBezTo>
                    <a:pt x="1656562" y="209892"/>
                    <a:pt x="1636239" y="230214"/>
                    <a:pt x="1611169" y="230214"/>
                  </a:cubicBezTo>
                  <a:lnTo>
                    <a:pt x="45392" y="230214"/>
                  </a:lnTo>
                  <a:cubicBezTo>
                    <a:pt x="20323" y="230214"/>
                    <a:pt x="0" y="209892"/>
                    <a:pt x="0" y="184822"/>
                  </a:cubicBezTo>
                  <a:lnTo>
                    <a:pt x="0" y="45392"/>
                  </a:lnTo>
                  <a:cubicBezTo>
                    <a:pt x="0" y="20323"/>
                    <a:pt x="20323" y="0"/>
                    <a:pt x="453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63F6B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3;p9">
              <a:extLst>
                <a:ext uri="{FF2B5EF4-FFF2-40B4-BE49-F238E27FC236}">
                  <a16:creationId xmlns:a16="http://schemas.microsoft.com/office/drawing/2014/main" id="{FEC8414A-3F71-FBD2-3CA5-40284876160B}"/>
                </a:ext>
              </a:extLst>
            </p:cNvPr>
            <p:cNvSpPr txBox="1"/>
            <p:nvPr/>
          </p:nvSpPr>
          <p:spPr>
            <a:xfrm>
              <a:off x="0" y="-57150"/>
              <a:ext cx="1656562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46;p9">
            <a:extLst>
              <a:ext uri="{FF2B5EF4-FFF2-40B4-BE49-F238E27FC236}">
                <a16:creationId xmlns:a16="http://schemas.microsoft.com/office/drawing/2014/main" id="{3107D654-2687-0D7B-D709-11A7B9F191CD}"/>
              </a:ext>
            </a:extLst>
          </p:cNvPr>
          <p:cNvSpPr txBox="1"/>
          <p:nvPr/>
        </p:nvSpPr>
        <p:spPr>
          <a:xfrm>
            <a:off x="7409109" y="945393"/>
            <a:ext cx="4003046" cy="37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8" b="0" i="0" u="none" strike="noStrike" cap="none" dirty="0">
                <a:solidFill>
                  <a:srgbClr val="263F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FLOWCHART SISTEM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F1B51785-0EC5-8F63-BF8E-873684D3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>
            <a:extLst>
              <a:ext uri="{FF2B5EF4-FFF2-40B4-BE49-F238E27FC236}">
                <a16:creationId xmlns:a16="http://schemas.microsoft.com/office/drawing/2014/main" id="{BA92A592-11FD-DE24-0DB3-6E489E1E4B8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p8">
            <a:extLst>
              <a:ext uri="{FF2B5EF4-FFF2-40B4-BE49-F238E27FC236}">
                <a16:creationId xmlns:a16="http://schemas.microsoft.com/office/drawing/2014/main" id="{90842348-5FFB-BA0C-1853-E42865BA0C2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Google Shape;227;p8">
            <a:extLst>
              <a:ext uri="{FF2B5EF4-FFF2-40B4-BE49-F238E27FC236}">
                <a16:creationId xmlns:a16="http://schemas.microsoft.com/office/drawing/2014/main" id="{B1F91DC6-0CF6-EB63-9FB7-E7D1D14933F6}"/>
              </a:ext>
            </a:extLst>
          </p:cNvPr>
          <p:cNvSpPr/>
          <p:nvPr/>
        </p:nvSpPr>
        <p:spPr>
          <a:xfrm rot="-1753206">
            <a:off x="-860347" y="4197007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>
            <a:extLst>
              <a:ext uri="{FF2B5EF4-FFF2-40B4-BE49-F238E27FC236}">
                <a16:creationId xmlns:a16="http://schemas.microsoft.com/office/drawing/2014/main" id="{83BA043E-D2A7-DCD4-9B2E-E375A35A6784}"/>
              </a:ext>
            </a:extLst>
          </p:cNvPr>
          <p:cNvSpPr/>
          <p:nvPr/>
        </p:nvSpPr>
        <p:spPr>
          <a:xfrm>
            <a:off x="-2793228" y="-4365102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3" name="Google Shape;233;p8">
            <a:extLst>
              <a:ext uri="{FF2B5EF4-FFF2-40B4-BE49-F238E27FC236}">
                <a16:creationId xmlns:a16="http://schemas.microsoft.com/office/drawing/2014/main" id="{54AED976-5A31-3E67-00BC-D9157CB72D69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234" name="Google Shape;234;p8">
              <a:extLst>
                <a:ext uri="{FF2B5EF4-FFF2-40B4-BE49-F238E27FC236}">
                  <a16:creationId xmlns:a16="http://schemas.microsoft.com/office/drawing/2014/main" id="{DBFC058D-BECE-09F7-0AD2-50F959D1DC12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>
              <a:extLst>
                <a:ext uri="{FF2B5EF4-FFF2-40B4-BE49-F238E27FC236}">
                  <a16:creationId xmlns:a16="http://schemas.microsoft.com/office/drawing/2014/main" id="{40306880-7C5C-9FA6-2CB4-663C07385A99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Use Case Diagram</a:t>
              </a:r>
              <a:endParaRPr dirty="0"/>
            </a:p>
          </p:txBody>
        </p:sp>
      </p:grpSp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A17E6499-6B44-C725-27A9-AFF6E571E31C}"/>
              </a:ext>
            </a:extLst>
          </p:cNvPr>
          <p:cNvSpPr txBox="1"/>
          <p:nvPr/>
        </p:nvSpPr>
        <p:spPr>
          <a:xfrm>
            <a:off x="9362926" y="2160808"/>
            <a:ext cx="8614832" cy="712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None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Case Diagram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Stok</a:t>
            </a:r>
          </a:p>
          <a:p>
            <a:pPr algn="just">
              <a:buNone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None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Case Diagram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menggambarkan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interaksi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antara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aktor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berbasis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mobile.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Pemilik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Toko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memiliki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akses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penuh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terhadap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sedangkan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Karyawan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berfokus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pada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aktivitas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operasional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harian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Seluruh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proses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diawali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login, dan pada proses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menerapkan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memastikan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tepat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buNone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Pemilik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toko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Karyawan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Utama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Pembuatan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pemindaian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QR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Proses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Monitoring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laporan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oogle Shape;241;p9">
            <a:extLst>
              <a:ext uri="{FF2B5EF4-FFF2-40B4-BE49-F238E27FC236}">
                <a16:creationId xmlns:a16="http://schemas.microsoft.com/office/drawing/2014/main" id="{B9C1BC21-145A-C397-3A79-724CAD22263F}"/>
              </a:ext>
            </a:extLst>
          </p:cNvPr>
          <p:cNvGrpSpPr/>
          <p:nvPr/>
        </p:nvGrpSpPr>
        <p:grpSpPr>
          <a:xfrm>
            <a:off x="7145699" y="908714"/>
            <a:ext cx="4434454" cy="769247"/>
            <a:chOff x="0" y="-57150"/>
            <a:chExt cx="1656562" cy="287364"/>
          </a:xfrm>
        </p:grpSpPr>
        <p:sp>
          <p:nvSpPr>
            <p:cNvPr id="5" name="Google Shape;242;p9">
              <a:extLst>
                <a:ext uri="{FF2B5EF4-FFF2-40B4-BE49-F238E27FC236}">
                  <a16:creationId xmlns:a16="http://schemas.microsoft.com/office/drawing/2014/main" id="{3BB6592E-C979-A970-578F-2A89123B7F40}"/>
                </a:ext>
              </a:extLst>
            </p:cNvPr>
            <p:cNvSpPr/>
            <p:nvPr/>
          </p:nvSpPr>
          <p:spPr>
            <a:xfrm>
              <a:off x="0" y="0"/>
              <a:ext cx="1656562" cy="230214"/>
            </a:xfrm>
            <a:custGeom>
              <a:avLst/>
              <a:gdLst/>
              <a:ahLst/>
              <a:cxnLst/>
              <a:rect l="l" t="t" r="r" b="b"/>
              <a:pathLst>
                <a:path w="1656562" h="230214" extrusionOk="0">
                  <a:moveTo>
                    <a:pt x="45392" y="0"/>
                  </a:moveTo>
                  <a:lnTo>
                    <a:pt x="1611169" y="0"/>
                  </a:lnTo>
                  <a:cubicBezTo>
                    <a:pt x="1636239" y="0"/>
                    <a:pt x="1656562" y="20323"/>
                    <a:pt x="1656562" y="45392"/>
                  </a:cubicBezTo>
                  <a:lnTo>
                    <a:pt x="1656562" y="184822"/>
                  </a:lnTo>
                  <a:cubicBezTo>
                    <a:pt x="1656562" y="209892"/>
                    <a:pt x="1636239" y="230214"/>
                    <a:pt x="1611169" y="230214"/>
                  </a:cubicBezTo>
                  <a:lnTo>
                    <a:pt x="45392" y="230214"/>
                  </a:lnTo>
                  <a:cubicBezTo>
                    <a:pt x="20323" y="230214"/>
                    <a:pt x="0" y="209892"/>
                    <a:pt x="0" y="184822"/>
                  </a:cubicBezTo>
                  <a:lnTo>
                    <a:pt x="0" y="45392"/>
                  </a:lnTo>
                  <a:cubicBezTo>
                    <a:pt x="0" y="20323"/>
                    <a:pt x="20323" y="0"/>
                    <a:pt x="453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63F6B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3;p9">
              <a:extLst>
                <a:ext uri="{FF2B5EF4-FFF2-40B4-BE49-F238E27FC236}">
                  <a16:creationId xmlns:a16="http://schemas.microsoft.com/office/drawing/2014/main" id="{30437700-29DA-E2BB-B0C2-643C3E202036}"/>
                </a:ext>
              </a:extLst>
            </p:cNvPr>
            <p:cNvSpPr txBox="1"/>
            <p:nvPr/>
          </p:nvSpPr>
          <p:spPr>
            <a:xfrm>
              <a:off x="0" y="-57150"/>
              <a:ext cx="1656562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46;p9">
            <a:extLst>
              <a:ext uri="{FF2B5EF4-FFF2-40B4-BE49-F238E27FC236}">
                <a16:creationId xmlns:a16="http://schemas.microsoft.com/office/drawing/2014/main" id="{39F9A0F4-5055-2592-3680-51C15591454B}"/>
              </a:ext>
            </a:extLst>
          </p:cNvPr>
          <p:cNvSpPr txBox="1"/>
          <p:nvPr/>
        </p:nvSpPr>
        <p:spPr>
          <a:xfrm>
            <a:off x="7333420" y="1185621"/>
            <a:ext cx="4003046" cy="37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8" b="0" i="0" u="none" strike="noStrike" cap="none" dirty="0">
                <a:solidFill>
                  <a:srgbClr val="263F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USE CASE DIAGRAM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4C52F6-C318-E676-FD40-7AEDC17286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43" y="2160809"/>
            <a:ext cx="8376557" cy="719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98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8112BA2A-8FA9-9048-ECB0-EA1FA39D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>
            <a:extLst>
              <a:ext uri="{FF2B5EF4-FFF2-40B4-BE49-F238E27FC236}">
                <a16:creationId xmlns:a16="http://schemas.microsoft.com/office/drawing/2014/main" id="{A591D62D-BE77-6720-722D-D3CE2F5C80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p8">
            <a:extLst>
              <a:ext uri="{FF2B5EF4-FFF2-40B4-BE49-F238E27FC236}">
                <a16:creationId xmlns:a16="http://schemas.microsoft.com/office/drawing/2014/main" id="{FDD92F4C-915C-4586-909F-77056E1E9C7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Google Shape;227;p8">
            <a:extLst>
              <a:ext uri="{FF2B5EF4-FFF2-40B4-BE49-F238E27FC236}">
                <a16:creationId xmlns:a16="http://schemas.microsoft.com/office/drawing/2014/main" id="{4773F078-FB9C-FA55-49AA-FCDBB13F43C6}"/>
              </a:ext>
            </a:extLst>
          </p:cNvPr>
          <p:cNvSpPr/>
          <p:nvPr/>
        </p:nvSpPr>
        <p:spPr>
          <a:xfrm rot="-1753206">
            <a:off x="-860347" y="4197007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>
            <a:extLst>
              <a:ext uri="{FF2B5EF4-FFF2-40B4-BE49-F238E27FC236}">
                <a16:creationId xmlns:a16="http://schemas.microsoft.com/office/drawing/2014/main" id="{4515D5CC-AC19-95B8-BC59-93AB32DA7713}"/>
              </a:ext>
            </a:extLst>
          </p:cNvPr>
          <p:cNvSpPr/>
          <p:nvPr/>
        </p:nvSpPr>
        <p:spPr>
          <a:xfrm>
            <a:off x="-2793228" y="-4365102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3" name="Google Shape;233;p8">
            <a:extLst>
              <a:ext uri="{FF2B5EF4-FFF2-40B4-BE49-F238E27FC236}">
                <a16:creationId xmlns:a16="http://schemas.microsoft.com/office/drawing/2014/main" id="{B66E3DF8-4A4C-C663-C3B7-051913CA43F7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234" name="Google Shape;234;p8">
              <a:extLst>
                <a:ext uri="{FF2B5EF4-FFF2-40B4-BE49-F238E27FC236}">
                  <a16:creationId xmlns:a16="http://schemas.microsoft.com/office/drawing/2014/main" id="{10FE0535-8E3E-8D4E-588B-D1E34F452F72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>
              <a:extLst>
                <a:ext uri="{FF2B5EF4-FFF2-40B4-BE49-F238E27FC236}">
                  <a16:creationId xmlns:a16="http://schemas.microsoft.com/office/drawing/2014/main" id="{A5644623-FD2F-DBB9-2640-109BC7528137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Activity Diagram</a:t>
              </a:r>
              <a:endParaRPr dirty="0"/>
            </a:p>
          </p:txBody>
        </p:sp>
      </p:grpSp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1156A283-29E4-7A8F-0D5A-6365940C3D35}"/>
              </a:ext>
            </a:extLst>
          </p:cNvPr>
          <p:cNvSpPr txBox="1"/>
          <p:nvPr/>
        </p:nvSpPr>
        <p:spPr>
          <a:xfrm>
            <a:off x="6458330" y="2079757"/>
            <a:ext cx="10311111" cy="712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None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Activity Diagram Proses Stok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endParaRPr lang="en-ID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ID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None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Activity Diagram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menggambarkan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alur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aktivitas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pengeluaran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menggunakan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QR Code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penerapan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First-In First-Out (FIFO). Diagram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menunjukkan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bagaimana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memastikan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lebih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lama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diprioritaskan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sebelum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transaksi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disimpan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ID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ID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memilih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 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 QR Code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endParaRPr lang="en-ID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melakukan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urutan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Jika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tidak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sesuai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menampilkan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peringatan</a:t>
            </a:r>
            <a:endParaRPr lang="en-ID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Jika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sesuai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Mengurangi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jumlah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Mencatat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riwayat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transaksi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Menampilkan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notifikasi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berhasil</a:t>
            </a:r>
            <a:b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oogle Shape;241;p9">
            <a:extLst>
              <a:ext uri="{FF2B5EF4-FFF2-40B4-BE49-F238E27FC236}">
                <a16:creationId xmlns:a16="http://schemas.microsoft.com/office/drawing/2014/main" id="{0D6A9A3F-8ED9-63A9-4368-855CC4B6A6EE}"/>
              </a:ext>
            </a:extLst>
          </p:cNvPr>
          <p:cNvGrpSpPr/>
          <p:nvPr/>
        </p:nvGrpSpPr>
        <p:grpSpPr>
          <a:xfrm>
            <a:off x="7145699" y="908714"/>
            <a:ext cx="4434454" cy="769247"/>
            <a:chOff x="0" y="-57150"/>
            <a:chExt cx="1656562" cy="287364"/>
          </a:xfrm>
        </p:grpSpPr>
        <p:sp>
          <p:nvSpPr>
            <p:cNvPr id="5" name="Google Shape;242;p9">
              <a:extLst>
                <a:ext uri="{FF2B5EF4-FFF2-40B4-BE49-F238E27FC236}">
                  <a16:creationId xmlns:a16="http://schemas.microsoft.com/office/drawing/2014/main" id="{49FF00D9-612D-E08A-58CD-4C9757A7F241}"/>
                </a:ext>
              </a:extLst>
            </p:cNvPr>
            <p:cNvSpPr/>
            <p:nvPr/>
          </p:nvSpPr>
          <p:spPr>
            <a:xfrm>
              <a:off x="0" y="0"/>
              <a:ext cx="1656562" cy="230214"/>
            </a:xfrm>
            <a:custGeom>
              <a:avLst/>
              <a:gdLst/>
              <a:ahLst/>
              <a:cxnLst/>
              <a:rect l="l" t="t" r="r" b="b"/>
              <a:pathLst>
                <a:path w="1656562" h="230214" extrusionOk="0">
                  <a:moveTo>
                    <a:pt x="45392" y="0"/>
                  </a:moveTo>
                  <a:lnTo>
                    <a:pt x="1611169" y="0"/>
                  </a:lnTo>
                  <a:cubicBezTo>
                    <a:pt x="1636239" y="0"/>
                    <a:pt x="1656562" y="20323"/>
                    <a:pt x="1656562" y="45392"/>
                  </a:cubicBezTo>
                  <a:lnTo>
                    <a:pt x="1656562" y="184822"/>
                  </a:lnTo>
                  <a:cubicBezTo>
                    <a:pt x="1656562" y="209892"/>
                    <a:pt x="1636239" y="230214"/>
                    <a:pt x="1611169" y="230214"/>
                  </a:cubicBezTo>
                  <a:lnTo>
                    <a:pt x="45392" y="230214"/>
                  </a:lnTo>
                  <a:cubicBezTo>
                    <a:pt x="20323" y="230214"/>
                    <a:pt x="0" y="209892"/>
                    <a:pt x="0" y="184822"/>
                  </a:cubicBezTo>
                  <a:lnTo>
                    <a:pt x="0" y="45392"/>
                  </a:lnTo>
                  <a:cubicBezTo>
                    <a:pt x="0" y="20323"/>
                    <a:pt x="20323" y="0"/>
                    <a:pt x="453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63F6B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3;p9">
              <a:extLst>
                <a:ext uri="{FF2B5EF4-FFF2-40B4-BE49-F238E27FC236}">
                  <a16:creationId xmlns:a16="http://schemas.microsoft.com/office/drawing/2014/main" id="{C7CEE5CE-D074-325B-F9FD-A6226F4A44F5}"/>
                </a:ext>
              </a:extLst>
            </p:cNvPr>
            <p:cNvSpPr txBox="1"/>
            <p:nvPr/>
          </p:nvSpPr>
          <p:spPr>
            <a:xfrm>
              <a:off x="0" y="-57150"/>
              <a:ext cx="1656562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46;p9">
            <a:extLst>
              <a:ext uri="{FF2B5EF4-FFF2-40B4-BE49-F238E27FC236}">
                <a16:creationId xmlns:a16="http://schemas.microsoft.com/office/drawing/2014/main" id="{D78659E5-1213-97EF-529C-C44BECF4E288}"/>
              </a:ext>
            </a:extLst>
          </p:cNvPr>
          <p:cNvSpPr txBox="1"/>
          <p:nvPr/>
        </p:nvSpPr>
        <p:spPr>
          <a:xfrm>
            <a:off x="7333420" y="1185621"/>
            <a:ext cx="4003046" cy="37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8" b="0" i="0" u="none" strike="noStrike" cap="none" dirty="0">
                <a:solidFill>
                  <a:srgbClr val="263F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ACTIVITY DIAGRAM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7E173D-436F-AF7C-ADE5-16A04BDFE5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76" y="1848957"/>
            <a:ext cx="4816929" cy="7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46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CFCDE217-2885-08D4-02A3-9A7989B2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>
            <a:extLst>
              <a:ext uri="{FF2B5EF4-FFF2-40B4-BE49-F238E27FC236}">
                <a16:creationId xmlns:a16="http://schemas.microsoft.com/office/drawing/2014/main" id="{EBB7E294-E0FB-83FC-1D93-0F4975B0452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p8">
            <a:extLst>
              <a:ext uri="{FF2B5EF4-FFF2-40B4-BE49-F238E27FC236}">
                <a16:creationId xmlns:a16="http://schemas.microsoft.com/office/drawing/2014/main" id="{1751CDF1-3821-E96C-19EF-6818B045DBD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Google Shape;227;p8">
            <a:extLst>
              <a:ext uri="{FF2B5EF4-FFF2-40B4-BE49-F238E27FC236}">
                <a16:creationId xmlns:a16="http://schemas.microsoft.com/office/drawing/2014/main" id="{2B164BA8-1431-AD73-5085-A3DE9967BC05}"/>
              </a:ext>
            </a:extLst>
          </p:cNvPr>
          <p:cNvSpPr/>
          <p:nvPr/>
        </p:nvSpPr>
        <p:spPr>
          <a:xfrm rot="-1753206">
            <a:off x="-860347" y="4197007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>
            <a:extLst>
              <a:ext uri="{FF2B5EF4-FFF2-40B4-BE49-F238E27FC236}">
                <a16:creationId xmlns:a16="http://schemas.microsoft.com/office/drawing/2014/main" id="{DC2296FC-6413-E64E-02FC-71A66A6C4742}"/>
              </a:ext>
            </a:extLst>
          </p:cNvPr>
          <p:cNvSpPr/>
          <p:nvPr/>
        </p:nvSpPr>
        <p:spPr>
          <a:xfrm>
            <a:off x="-2793228" y="-4365102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3" name="Google Shape;233;p8">
            <a:extLst>
              <a:ext uri="{FF2B5EF4-FFF2-40B4-BE49-F238E27FC236}">
                <a16:creationId xmlns:a16="http://schemas.microsoft.com/office/drawing/2014/main" id="{15FCC70D-7757-6073-BD4F-0EDD7362D95F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234" name="Google Shape;234;p8">
              <a:extLst>
                <a:ext uri="{FF2B5EF4-FFF2-40B4-BE49-F238E27FC236}">
                  <a16:creationId xmlns:a16="http://schemas.microsoft.com/office/drawing/2014/main" id="{96C2C293-A472-0083-2787-68F75FA8AF9B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>
              <a:extLst>
                <a:ext uri="{FF2B5EF4-FFF2-40B4-BE49-F238E27FC236}">
                  <a16:creationId xmlns:a16="http://schemas.microsoft.com/office/drawing/2014/main" id="{EF7116E8-C5A0-629C-AEC0-90EEE2B0C83F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Class Diagram</a:t>
              </a:r>
              <a:endParaRPr dirty="0"/>
            </a:p>
          </p:txBody>
        </p:sp>
      </p:grpSp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7A0E42C3-02BB-17AD-CD32-3C21EA37D5C9}"/>
              </a:ext>
            </a:extLst>
          </p:cNvPr>
          <p:cNvSpPr txBox="1"/>
          <p:nvPr/>
        </p:nvSpPr>
        <p:spPr>
          <a:xfrm>
            <a:off x="9144000" y="1989488"/>
            <a:ext cx="8693543" cy="659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None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Diagram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Stok</a:t>
            </a:r>
          </a:p>
          <a:p>
            <a:pPr>
              <a:buNone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None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Diagram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menggambarkan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struktur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hubungan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manajemen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Setiap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terdiri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beberapa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batch,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setiap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batch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memiliki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satu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QR Code,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seluruh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aktivitas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dicatat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transaksi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oleh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Struktur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mendukung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penerapan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pelacakan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berbasis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QR Code.</a:t>
            </a:r>
          </a:p>
          <a:p>
            <a:pPr>
              <a:buNone/>
            </a:pPr>
            <a:endParaRPr lang="en-ID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Utama </a:t>
            </a: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>
              <a:buNone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Menyimpan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Pemilik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Karyawan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Menyimpan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secara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umum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Batch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Menyimpan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 batch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QRCode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Identitas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setiap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batch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Transaksi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Mencatat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endParaRPr lang="en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oogle Shape;241;p9">
            <a:extLst>
              <a:ext uri="{FF2B5EF4-FFF2-40B4-BE49-F238E27FC236}">
                <a16:creationId xmlns:a16="http://schemas.microsoft.com/office/drawing/2014/main" id="{B8D09B2D-0351-4816-3CBD-28CA2AA0934F}"/>
              </a:ext>
            </a:extLst>
          </p:cNvPr>
          <p:cNvGrpSpPr/>
          <p:nvPr/>
        </p:nvGrpSpPr>
        <p:grpSpPr>
          <a:xfrm>
            <a:off x="7145699" y="908714"/>
            <a:ext cx="4434454" cy="769247"/>
            <a:chOff x="0" y="-57150"/>
            <a:chExt cx="1656562" cy="287364"/>
          </a:xfrm>
        </p:grpSpPr>
        <p:sp>
          <p:nvSpPr>
            <p:cNvPr id="5" name="Google Shape;242;p9">
              <a:extLst>
                <a:ext uri="{FF2B5EF4-FFF2-40B4-BE49-F238E27FC236}">
                  <a16:creationId xmlns:a16="http://schemas.microsoft.com/office/drawing/2014/main" id="{BB247E34-BA74-811A-57BE-C9D131AF9DB5}"/>
                </a:ext>
              </a:extLst>
            </p:cNvPr>
            <p:cNvSpPr/>
            <p:nvPr/>
          </p:nvSpPr>
          <p:spPr>
            <a:xfrm>
              <a:off x="0" y="0"/>
              <a:ext cx="1656562" cy="230214"/>
            </a:xfrm>
            <a:custGeom>
              <a:avLst/>
              <a:gdLst/>
              <a:ahLst/>
              <a:cxnLst/>
              <a:rect l="l" t="t" r="r" b="b"/>
              <a:pathLst>
                <a:path w="1656562" h="230214" extrusionOk="0">
                  <a:moveTo>
                    <a:pt x="45392" y="0"/>
                  </a:moveTo>
                  <a:lnTo>
                    <a:pt x="1611169" y="0"/>
                  </a:lnTo>
                  <a:cubicBezTo>
                    <a:pt x="1636239" y="0"/>
                    <a:pt x="1656562" y="20323"/>
                    <a:pt x="1656562" y="45392"/>
                  </a:cubicBezTo>
                  <a:lnTo>
                    <a:pt x="1656562" y="184822"/>
                  </a:lnTo>
                  <a:cubicBezTo>
                    <a:pt x="1656562" y="209892"/>
                    <a:pt x="1636239" y="230214"/>
                    <a:pt x="1611169" y="230214"/>
                  </a:cubicBezTo>
                  <a:lnTo>
                    <a:pt x="45392" y="230214"/>
                  </a:lnTo>
                  <a:cubicBezTo>
                    <a:pt x="20323" y="230214"/>
                    <a:pt x="0" y="209892"/>
                    <a:pt x="0" y="184822"/>
                  </a:cubicBezTo>
                  <a:lnTo>
                    <a:pt x="0" y="45392"/>
                  </a:lnTo>
                  <a:cubicBezTo>
                    <a:pt x="0" y="20323"/>
                    <a:pt x="20323" y="0"/>
                    <a:pt x="453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63F6B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3;p9">
              <a:extLst>
                <a:ext uri="{FF2B5EF4-FFF2-40B4-BE49-F238E27FC236}">
                  <a16:creationId xmlns:a16="http://schemas.microsoft.com/office/drawing/2014/main" id="{E9BC40C7-4468-18C0-663F-0D845CF2B462}"/>
                </a:ext>
              </a:extLst>
            </p:cNvPr>
            <p:cNvSpPr txBox="1"/>
            <p:nvPr/>
          </p:nvSpPr>
          <p:spPr>
            <a:xfrm>
              <a:off x="0" y="-57150"/>
              <a:ext cx="1656562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46;p9">
            <a:extLst>
              <a:ext uri="{FF2B5EF4-FFF2-40B4-BE49-F238E27FC236}">
                <a16:creationId xmlns:a16="http://schemas.microsoft.com/office/drawing/2014/main" id="{37871CEC-2713-E862-0B0C-1BFAF4C8AE5D}"/>
              </a:ext>
            </a:extLst>
          </p:cNvPr>
          <p:cNvSpPr txBox="1"/>
          <p:nvPr/>
        </p:nvSpPr>
        <p:spPr>
          <a:xfrm>
            <a:off x="7333420" y="1185621"/>
            <a:ext cx="4003046" cy="37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8" b="0" i="0" u="none" strike="noStrike" cap="none" dirty="0">
                <a:solidFill>
                  <a:srgbClr val="263F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CLASS DIAGRAM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ED135-7C9E-2FC4-BC74-420029E265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31" y="2081421"/>
            <a:ext cx="8651297" cy="493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12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92D155DA-DC28-2003-6E57-6CA8F9F7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>
            <a:extLst>
              <a:ext uri="{FF2B5EF4-FFF2-40B4-BE49-F238E27FC236}">
                <a16:creationId xmlns:a16="http://schemas.microsoft.com/office/drawing/2014/main" id="{FE6556BF-F6BB-13A3-9A55-073F278215E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p8">
            <a:extLst>
              <a:ext uri="{FF2B5EF4-FFF2-40B4-BE49-F238E27FC236}">
                <a16:creationId xmlns:a16="http://schemas.microsoft.com/office/drawing/2014/main" id="{AD92404F-F714-405B-C128-AB6008889B0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8" r="-59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Google Shape;227;p8">
            <a:extLst>
              <a:ext uri="{FF2B5EF4-FFF2-40B4-BE49-F238E27FC236}">
                <a16:creationId xmlns:a16="http://schemas.microsoft.com/office/drawing/2014/main" id="{DF457353-AFE7-99F9-B84E-225E9348497B}"/>
              </a:ext>
            </a:extLst>
          </p:cNvPr>
          <p:cNvSpPr/>
          <p:nvPr/>
        </p:nvSpPr>
        <p:spPr>
          <a:xfrm rot="-1753206">
            <a:off x="-860347" y="4197007"/>
            <a:ext cx="25783492" cy="9586163"/>
          </a:xfrm>
          <a:prstGeom prst="rect">
            <a:avLst/>
          </a:prstGeom>
          <a:solidFill>
            <a:srgbClr val="545454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>
            <a:extLst>
              <a:ext uri="{FF2B5EF4-FFF2-40B4-BE49-F238E27FC236}">
                <a16:creationId xmlns:a16="http://schemas.microsoft.com/office/drawing/2014/main" id="{E16CEBC5-F6FF-3878-F8D4-8CBE851A6D50}"/>
              </a:ext>
            </a:extLst>
          </p:cNvPr>
          <p:cNvSpPr/>
          <p:nvPr/>
        </p:nvSpPr>
        <p:spPr>
          <a:xfrm>
            <a:off x="-2793228" y="-4365102"/>
            <a:ext cx="6915597" cy="7096228"/>
          </a:xfrm>
          <a:custGeom>
            <a:avLst/>
            <a:gdLst/>
            <a:ahLst/>
            <a:cxnLst/>
            <a:rect l="l" t="t" r="r" b="b"/>
            <a:pathLst>
              <a:path w="6915597" h="7096228" extrusionOk="0">
                <a:moveTo>
                  <a:pt x="0" y="0"/>
                </a:moveTo>
                <a:lnTo>
                  <a:pt x="6915597" y="0"/>
                </a:lnTo>
                <a:lnTo>
                  <a:pt x="6915597" y="7096228"/>
                </a:lnTo>
                <a:lnTo>
                  <a:pt x="0" y="709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3" name="Google Shape;233;p8">
            <a:extLst>
              <a:ext uri="{FF2B5EF4-FFF2-40B4-BE49-F238E27FC236}">
                <a16:creationId xmlns:a16="http://schemas.microsoft.com/office/drawing/2014/main" id="{52C7F60A-D588-CB5C-E450-E1EB2EF107E0}"/>
              </a:ext>
            </a:extLst>
          </p:cNvPr>
          <p:cNvGrpSpPr/>
          <p:nvPr/>
        </p:nvGrpSpPr>
        <p:grpSpPr>
          <a:xfrm>
            <a:off x="5579125" y="9533700"/>
            <a:ext cx="11040428" cy="753300"/>
            <a:chOff x="0" y="-3"/>
            <a:chExt cx="2718704" cy="185501"/>
          </a:xfrm>
        </p:grpSpPr>
        <p:sp>
          <p:nvSpPr>
            <p:cNvPr id="234" name="Google Shape;234;p8">
              <a:extLst>
                <a:ext uri="{FF2B5EF4-FFF2-40B4-BE49-F238E27FC236}">
                  <a16:creationId xmlns:a16="http://schemas.microsoft.com/office/drawing/2014/main" id="{DE3A278B-96B0-3C2E-0951-E5F80E3F38F9}"/>
                </a:ext>
              </a:extLst>
            </p:cNvPr>
            <p:cNvSpPr/>
            <p:nvPr/>
          </p:nvSpPr>
          <p:spPr>
            <a:xfrm>
              <a:off x="0" y="0"/>
              <a:ext cx="2718704" cy="185498"/>
            </a:xfrm>
            <a:custGeom>
              <a:avLst/>
              <a:gdLst/>
              <a:ahLst/>
              <a:cxnLst/>
              <a:rect l="l" t="t" r="r" b="b"/>
              <a:pathLst>
                <a:path w="2718704" h="185498" extrusionOk="0">
                  <a:moveTo>
                    <a:pt x="14726" y="0"/>
                  </a:moveTo>
                  <a:lnTo>
                    <a:pt x="2703978" y="0"/>
                  </a:lnTo>
                  <a:cubicBezTo>
                    <a:pt x="2712111" y="0"/>
                    <a:pt x="2718704" y="6593"/>
                    <a:pt x="2718704" y="14726"/>
                  </a:cubicBezTo>
                  <a:lnTo>
                    <a:pt x="2718704" y="170772"/>
                  </a:lnTo>
                  <a:cubicBezTo>
                    <a:pt x="2718704" y="178905"/>
                    <a:pt x="2712111" y="185498"/>
                    <a:pt x="2703978" y="185498"/>
                  </a:cubicBezTo>
                  <a:lnTo>
                    <a:pt x="14726" y="185498"/>
                  </a:lnTo>
                  <a:cubicBezTo>
                    <a:pt x="6593" y="185498"/>
                    <a:pt x="0" y="178905"/>
                    <a:pt x="0" y="170772"/>
                  </a:cubicBezTo>
                  <a:lnTo>
                    <a:pt x="0" y="14726"/>
                  </a:lnTo>
                  <a:cubicBezTo>
                    <a:pt x="0" y="6593"/>
                    <a:pt x="6593" y="0"/>
                    <a:pt x="14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>
              <a:extLst>
                <a:ext uri="{FF2B5EF4-FFF2-40B4-BE49-F238E27FC236}">
                  <a16:creationId xmlns:a16="http://schemas.microsoft.com/office/drawing/2014/main" id="{2742CDA1-8AF4-6C32-E0AC-7F7DD43C1D46}"/>
                </a:ext>
              </a:extLst>
            </p:cNvPr>
            <p:cNvSpPr txBox="1"/>
            <p:nvPr/>
          </p:nvSpPr>
          <p:spPr>
            <a:xfrm>
              <a:off x="0" y="-3"/>
              <a:ext cx="27186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Design UI</a:t>
              </a:r>
              <a:endParaRPr dirty="0"/>
            </a:p>
          </p:txBody>
        </p:sp>
      </p:grpSp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5D9EC0C4-84CF-7A32-0107-091F9B66A909}"/>
              </a:ext>
            </a:extLst>
          </p:cNvPr>
          <p:cNvSpPr txBox="1"/>
          <p:nvPr/>
        </p:nvSpPr>
        <p:spPr>
          <a:xfrm>
            <a:off x="9918098" y="1837830"/>
            <a:ext cx="6981974" cy="462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Desain UI pada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difokuskan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pada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kemudahan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pemilik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karyawan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Tampilan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aplikasi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dimulai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halaman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login,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kemudian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dashboard,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pengelolaan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berbasis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batch,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hingga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proses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keluar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melalui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scan QR Code. Desain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masih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bersifat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prototype dan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disesuaikan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kembali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berdasarkan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umpan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balik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pengguna</a:t>
            </a:r>
            <a:r>
              <a:rPr lang="en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pSp>
        <p:nvGrpSpPr>
          <p:cNvPr id="4" name="Google Shape;241;p9">
            <a:extLst>
              <a:ext uri="{FF2B5EF4-FFF2-40B4-BE49-F238E27FC236}">
                <a16:creationId xmlns:a16="http://schemas.microsoft.com/office/drawing/2014/main" id="{A0481491-2C83-12BA-C10E-50AE867A509D}"/>
              </a:ext>
            </a:extLst>
          </p:cNvPr>
          <p:cNvGrpSpPr/>
          <p:nvPr/>
        </p:nvGrpSpPr>
        <p:grpSpPr>
          <a:xfrm>
            <a:off x="7145699" y="614796"/>
            <a:ext cx="4434454" cy="769247"/>
            <a:chOff x="0" y="-57150"/>
            <a:chExt cx="1656562" cy="287364"/>
          </a:xfrm>
        </p:grpSpPr>
        <p:sp>
          <p:nvSpPr>
            <p:cNvPr id="5" name="Google Shape;242;p9">
              <a:extLst>
                <a:ext uri="{FF2B5EF4-FFF2-40B4-BE49-F238E27FC236}">
                  <a16:creationId xmlns:a16="http://schemas.microsoft.com/office/drawing/2014/main" id="{34DF2164-EF9B-9011-5181-5B844E2F493D}"/>
                </a:ext>
              </a:extLst>
            </p:cNvPr>
            <p:cNvSpPr/>
            <p:nvPr/>
          </p:nvSpPr>
          <p:spPr>
            <a:xfrm>
              <a:off x="0" y="0"/>
              <a:ext cx="1656562" cy="230214"/>
            </a:xfrm>
            <a:custGeom>
              <a:avLst/>
              <a:gdLst/>
              <a:ahLst/>
              <a:cxnLst/>
              <a:rect l="l" t="t" r="r" b="b"/>
              <a:pathLst>
                <a:path w="1656562" h="230214" extrusionOk="0">
                  <a:moveTo>
                    <a:pt x="45392" y="0"/>
                  </a:moveTo>
                  <a:lnTo>
                    <a:pt x="1611169" y="0"/>
                  </a:lnTo>
                  <a:cubicBezTo>
                    <a:pt x="1636239" y="0"/>
                    <a:pt x="1656562" y="20323"/>
                    <a:pt x="1656562" y="45392"/>
                  </a:cubicBezTo>
                  <a:lnTo>
                    <a:pt x="1656562" y="184822"/>
                  </a:lnTo>
                  <a:cubicBezTo>
                    <a:pt x="1656562" y="209892"/>
                    <a:pt x="1636239" y="230214"/>
                    <a:pt x="1611169" y="230214"/>
                  </a:cubicBezTo>
                  <a:lnTo>
                    <a:pt x="45392" y="230214"/>
                  </a:lnTo>
                  <a:cubicBezTo>
                    <a:pt x="20323" y="230214"/>
                    <a:pt x="0" y="209892"/>
                    <a:pt x="0" y="184822"/>
                  </a:cubicBezTo>
                  <a:lnTo>
                    <a:pt x="0" y="45392"/>
                  </a:lnTo>
                  <a:cubicBezTo>
                    <a:pt x="0" y="20323"/>
                    <a:pt x="20323" y="0"/>
                    <a:pt x="453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263F6B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3;p9">
              <a:extLst>
                <a:ext uri="{FF2B5EF4-FFF2-40B4-BE49-F238E27FC236}">
                  <a16:creationId xmlns:a16="http://schemas.microsoft.com/office/drawing/2014/main" id="{B8E074DB-D3A3-CD59-60BD-A8B43558B452}"/>
                </a:ext>
              </a:extLst>
            </p:cNvPr>
            <p:cNvSpPr txBox="1"/>
            <p:nvPr/>
          </p:nvSpPr>
          <p:spPr>
            <a:xfrm>
              <a:off x="0" y="-57150"/>
              <a:ext cx="1656562" cy="287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46;p9">
            <a:extLst>
              <a:ext uri="{FF2B5EF4-FFF2-40B4-BE49-F238E27FC236}">
                <a16:creationId xmlns:a16="http://schemas.microsoft.com/office/drawing/2014/main" id="{B55E4163-E235-3985-7ACC-82A88C978B8D}"/>
              </a:ext>
            </a:extLst>
          </p:cNvPr>
          <p:cNvSpPr txBox="1"/>
          <p:nvPr/>
        </p:nvSpPr>
        <p:spPr>
          <a:xfrm>
            <a:off x="7333420" y="891703"/>
            <a:ext cx="4003046" cy="37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8" dirty="0">
                <a:solidFill>
                  <a:srgbClr val="263F6B"/>
                </a:solidFill>
                <a:latin typeface="Montserrat ExtraBold"/>
                <a:cs typeface="Montserrat ExtraBold"/>
                <a:sym typeface="Montserrat ExtraBold"/>
              </a:rPr>
              <a:t>DESIGN USER INTERFACE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EBE8B-29D7-08AD-A605-7A5E61966AE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" t="6767" r="926" b="8706"/>
          <a:stretch/>
        </p:blipFill>
        <p:spPr bwMode="auto">
          <a:xfrm>
            <a:off x="1107040" y="1507965"/>
            <a:ext cx="8036960" cy="38987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F0F46-9891-E6F7-66C4-FA41C386A80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" t="7148" r="440" b="4637"/>
          <a:stretch/>
        </p:blipFill>
        <p:spPr bwMode="auto">
          <a:xfrm>
            <a:off x="1107040" y="5427151"/>
            <a:ext cx="8036960" cy="40697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8429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-625"/>
            <a:ext cx="14574774" cy="10285765"/>
          </a:xfrm>
          <a:custGeom>
            <a:avLst/>
            <a:gdLst/>
            <a:ahLst/>
            <a:cxnLst/>
            <a:rect l="l" t="t" r="r" b="b"/>
            <a:pathLst>
              <a:path w="15182056" h="10285765" extrusionOk="0">
                <a:moveTo>
                  <a:pt x="0" y="0"/>
                </a:moveTo>
                <a:lnTo>
                  <a:pt x="15182056" y="0"/>
                </a:lnTo>
                <a:lnTo>
                  <a:pt x="15182056" y="10285765"/>
                </a:lnTo>
                <a:lnTo>
                  <a:pt x="0" y="1028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6016" t="-2488" b="-3798"/>
            </a:stretch>
          </a:blipFill>
          <a:ln>
            <a:noFill/>
          </a:ln>
        </p:spPr>
      </p:sp>
      <p:grpSp>
        <p:nvGrpSpPr>
          <p:cNvPr id="295" name="Google Shape;295;p12"/>
          <p:cNvGrpSpPr/>
          <p:nvPr/>
        </p:nvGrpSpPr>
        <p:grpSpPr>
          <a:xfrm>
            <a:off x="0" y="9335141"/>
            <a:ext cx="18288000" cy="951859"/>
            <a:chOff x="0" y="-57150"/>
            <a:chExt cx="4816593" cy="250695"/>
          </a:xfrm>
        </p:grpSpPr>
        <p:sp>
          <p:nvSpPr>
            <p:cNvPr id="296" name="Google Shape;296;p12"/>
            <p:cNvSpPr/>
            <p:nvPr/>
          </p:nvSpPr>
          <p:spPr>
            <a:xfrm>
              <a:off x="0" y="0"/>
              <a:ext cx="4816592" cy="193545"/>
            </a:xfrm>
            <a:custGeom>
              <a:avLst/>
              <a:gdLst/>
              <a:ahLst/>
              <a:cxnLst/>
              <a:rect l="l" t="t" r="r" b="b"/>
              <a:pathLst>
                <a:path w="4816592" h="1935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EC582D"/>
            </a:solidFill>
            <a:ln>
              <a:noFill/>
            </a:ln>
          </p:spPr>
        </p:sp>
        <p:sp>
          <p:nvSpPr>
            <p:cNvPr id="297" name="Google Shape;297;p12"/>
            <p:cNvSpPr txBox="1"/>
            <p:nvPr/>
          </p:nvSpPr>
          <p:spPr>
            <a:xfrm>
              <a:off x="0" y="-57150"/>
              <a:ext cx="4816593" cy="250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2"/>
          <p:cNvSpPr/>
          <p:nvPr/>
        </p:nvSpPr>
        <p:spPr>
          <a:xfrm>
            <a:off x="13539900" y="136755"/>
            <a:ext cx="4494826" cy="1515697"/>
          </a:xfrm>
          <a:custGeom>
            <a:avLst/>
            <a:gdLst/>
            <a:ahLst/>
            <a:cxnLst/>
            <a:rect l="l" t="t" r="r" b="b"/>
            <a:pathLst>
              <a:path w="4494826" h="1515697" extrusionOk="0">
                <a:moveTo>
                  <a:pt x="0" y="0"/>
                </a:moveTo>
                <a:lnTo>
                  <a:pt x="4494826" y="0"/>
                </a:lnTo>
                <a:lnTo>
                  <a:pt x="4494826" y="1515697"/>
                </a:lnTo>
                <a:lnTo>
                  <a:pt x="0" y="1515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99" name="Google Shape;299;p12"/>
          <p:cNvGrpSpPr/>
          <p:nvPr/>
        </p:nvGrpSpPr>
        <p:grpSpPr>
          <a:xfrm>
            <a:off x="0" y="9550898"/>
            <a:ext cx="4881239" cy="734867"/>
            <a:chOff x="0" y="0"/>
            <a:chExt cx="1285594" cy="193545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1285594" cy="193545"/>
            </a:xfrm>
            <a:custGeom>
              <a:avLst/>
              <a:gdLst/>
              <a:ahLst/>
              <a:cxnLst/>
              <a:rect l="l" t="t" r="r" b="b"/>
              <a:pathLst>
                <a:path w="1285594" h="193545" extrusionOk="0">
                  <a:moveTo>
                    <a:pt x="0" y="0"/>
                  </a:moveTo>
                  <a:lnTo>
                    <a:pt x="1285594" y="0"/>
                  </a:lnTo>
                  <a:lnTo>
                    <a:pt x="1285594" y="193545"/>
                  </a:lnTo>
                  <a:lnTo>
                    <a:pt x="0" y="193545"/>
                  </a:lnTo>
                  <a:close/>
                </a:path>
              </a:pathLst>
            </a:custGeom>
            <a:solidFill>
              <a:srgbClr val="257ABA"/>
            </a:solidFill>
            <a:ln>
              <a:noFill/>
            </a:ln>
          </p:spPr>
        </p:sp>
        <p:sp>
          <p:nvSpPr>
            <p:cNvPr id="301" name="Google Shape;301;p12"/>
            <p:cNvSpPr txBox="1"/>
            <p:nvPr/>
          </p:nvSpPr>
          <p:spPr>
            <a:xfrm>
              <a:off x="0" y="0"/>
              <a:ext cx="12855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fasilkom@esaunggul.ac.id</a:t>
              </a:r>
              <a:endParaRPr/>
            </a:p>
          </p:txBody>
        </p:sp>
      </p:grpSp>
      <p:sp>
        <p:nvSpPr>
          <p:cNvPr id="302" name="Google Shape;302;p12"/>
          <p:cNvSpPr txBox="1"/>
          <p:nvPr/>
        </p:nvSpPr>
        <p:spPr>
          <a:xfrm>
            <a:off x="7739595" y="4369348"/>
            <a:ext cx="9777600" cy="15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58" i="0" u="none" strike="noStrike" cap="none">
                <a:solidFill>
                  <a:srgbClr val="28295D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1610</Words>
  <Application>Microsoft Macintosh PowerPoint</Application>
  <PresentationFormat>Custom</PresentationFormat>
  <Paragraphs>177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Poppins Medium</vt:lpstr>
      <vt:lpstr>Montserrat ExtraBold</vt:lpstr>
      <vt:lpstr>Tahoma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Bayu</cp:lastModifiedBy>
  <cp:revision>6</cp:revision>
  <dcterms:created xsi:type="dcterms:W3CDTF">2006-08-16T00:00:00Z</dcterms:created>
  <dcterms:modified xsi:type="dcterms:W3CDTF">2026-01-21T12:33:15Z</dcterms:modified>
</cp:coreProperties>
</file>